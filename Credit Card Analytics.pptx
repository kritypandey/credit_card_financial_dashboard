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arlow SemiCondensed" panose="020B0604020202020204" charset="0"/>
      <p:regular r:id="rId11"/>
    </p:embeddedFont>
    <p:embeddedFont>
      <p:font typeface="Barlow SemiCondensed Bold" panose="020B0604020202020204" charset="0"/>
      <p:regular r:id="rId12"/>
    </p:embeddedFont>
    <p:embeddedFont>
      <p:font typeface="Barlow SemiCondensed Bold Italics" panose="020B0604020202020204" charset="0"/>
      <p:regular r:id="rId13"/>
    </p:embeddedFont>
    <p:embeddedFont>
      <p:font typeface="Barlow SemiCondensed Medium" panose="020B0604020202020204" charset="0"/>
      <p:regular r:id="rId14"/>
    </p:embeddedFont>
    <p:embeddedFont>
      <p:font typeface="Barlow SemiCondensed Semi-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Bold" panose="02000000000000000000" charset="0"/>
      <p:regular r:id="rId26"/>
    </p:embeddedFont>
    <p:embeddedFont>
      <p:font typeface="Roboto Condensed" panose="02000000000000000000" pitchFamily="2" charset="0"/>
      <p:regular r:id="rId27"/>
      <p:bold r:id="rId28"/>
      <p:italic r:id="rId29"/>
      <p:boldItalic r:id="rId30"/>
    </p:embeddedFont>
    <p:embeddedFont>
      <p:font typeface="Roboto Condensed Bold" panose="02000000000000000000" charset="0"/>
      <p:regular r:id="rId31"/>
    </p:embeddedFont>
    <p:embeddedFont>
      <p:font typeface="Roboto Condensed Bold Italics" panose="020B0604020202020204" charset="0"/>
      <p:regular r:id="rId32"/>
    </p:embeddedFont>
    <p:embeddedFont>
      <p:font typeface="Saira Condensed Bold" panose="020B0604020202020204" charset="0"/>
      <p:regular r:id="rId33"/>
    </p:embeddedFont>
    <p:embeddedFont>
      <p:font typeface="Saira Condensed Medium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21" Type="http://schemas.openxmlformats.org/officeDocument/2006/relationships/font" Target="fonts/font11.fntdata"/><Relationship Id="rId34" Type="http://schemas.openxmlformats.org/officeDocument/2006/relationships/font" Target="fonts/font24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font" Target="fonts/font2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62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image" Target="../media/image38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6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26" Type="http://schemas.openxmlformats.org/officeDocument/2006/relationships/image" Target="../media/image89.png"/><Relationship Id="rId3" Type="http://schemas.openxmlformats.org/officeDocument/2006/relationships/image" Target="../media/image66.png"/><Relationship Id="rId21" Type="http://schemas.openxmlformats.org/officeDocument/2006/relationships/image" Target="../media/image84.png"/><Relationship Id="rId34" Type="http://schemas.openxmlformats.org/officeDocument/2006/relationships/image" Target="../media/image97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5" Type="http://schemas.openxmlformats.org/officeDocument/2006/relationships/image" Target="../media/image88.png"/><Relationship Id="rId33" Type="http://schemas.openxmlformats.org/officeDocument/2006/relationships/image" Target="../media/image96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24" Type="http://schemas.openxmlformats.org/officeDocument/2006/relationships/image" Target="../media/image87.png"/><Relationship Id="rId32" Type="http://schemas.openxmlformats.org/officeDocument/2006/relationships/image" Target="../media/image95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23" Type="http://schemas.openxmlformats.org/officeDocument/2006/relationships/image" Target="../media/image86.png"/><Relationship Id="rId28" Type="http://schemas.openxmlformats.org/officeDocument/2006/relationships/image" Target="../media/image91.png"/><Relationship Id="rId36" Type="http://schemas.openxmlformats.org/officeDocument/2006/relationships/image" Target="../media/image99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31" Type="http://schemas.openxmlformats.org/officeDocument/2006/relationships/image" Target="../media/image94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Relationship Id="rId27" Type="http://schemas.openxmlformats.org/officeDocument/2006/relationships/image" Target="../media/image90.png"/><Relationship Id="rId30" Type="http://schemas.openxmlformats.org/officeDocument/2006/relationships/image" Target="../media/image93.png"/><Relationship Id="rId35" Type="http://schemas.openxmlformats.org/officeDocument/2006/relationships/image" Target="../media/image98.png"/><Relationship Id="rId8" Type="http://schemas.openxmlformats.org/officeDocument/2006/relationships/image" Target="../media/image71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18" Type="http://schemas.openxmlformats.org/officeDocument/2006/relationships/image" Target="../media/image116.png"/><Relationship Id="rId26" Type="http://schemas.openxmlformats.org/officeDocument/2006/relationships/image" Target="../media/image124.png"/><Relationship Id="rId21" Type="http://schemas.openxmlformats.org/officeDocument/2006/relationships/image" Target="../media/image119.png"/><Relationship Id="rId34" Type="http://schemas.openxmlformats.org/officeDocument/2006/relationships/image" Target="../media/image132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5" Type="http://schemas.openxmlformats.org/officeDocument/2006/relationships/image" Target="../media/image123.png"/><Relationship Id="rId33" Type="http://schemas.openxmlformats.org/officeDocument/2006/relationships/image" Target="../media/image131.png"/><Relationship Id="rId38" Type="http://schemas.openxmlformats.org/officeDocument/2006/relationships/image" Target="../media/image136.png"/><Relationship Id="rId2" Type="http://schemas.openxmlformats.org/officeDocument/2006/relationships/image" Target="../media/image100.png"/><Relationship Id="rId16" Type="http://schemas.openxmlformats.org/officeDocument/2006/relationships/image" Target="../media/image114.png"/><Relationship Id="rId20" Type="http://schemas.openxmlformats.org/officeDocument/2006/relationships/image" Target="../media/image118.png"/><Relationship Id="rId29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24" Type="http://schemas.openxmlformats.org/officeDocument/2006/relationships/image" Target="../media/image122.png"/><Relationship Id="rId32" Type="http://schemas.openxmlformats.org/officeDocument/2006/relationships/image" Target="../media/image130.png"/><Relationship Id="rId37" Type="http://schemas.openxmlformats.org/officeDocument/2006/relationships/image" Target="../media/image135.png"/><Relationship Id="rId5" Type="http://schemas.openxmlformats.org/officeDocument/2006/relationships/image" Target="../media/image103.png"/><Relationship Id="rId15" Type="http://schemas.openxmlformats.org/officeDocument/2006/relationships/image" Target="../media/image113.png"/><Relationship Id="rId23" Type="http://schemas.openxmlformats.org/officeDocument/2006/relationships/image" Target="../media/image121.png"/><Relationship Id="rId28" Type="http://schemas.openxmlformats.org/officeDocument/2006/relationships/image" Target="../media/image126.png"/><Relationship Id="rId36" Type="http://schemas.openxmlformats.org/officeDocument/2006/relationships/image" Target="../media/image134.png"/><Relationship Id="rId10" Type="http://schemas.openxmlformats.org/officeDocument/2006/relationships/image" Target="../media/image108.png"/><Relationship Id="rId19" Type="http://schemas.openxmlformats.org/officeDocument/2006/relationships/image" Target="../media/image117.png"/><Relationship Id="rId31" Type="http://schemas.openxmlformats.org/officeDocument/2006/relationships/image" Target="../media/image129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Relationship Id="rId14" Type="http://schemas.openxmlformats.org/officeDocument/2006/relationships/image" Target="../media/image112.png"/><Relationship Id="rId22" Type="http://schemas.openxmlformats.org/officeDocument/2006/relationships/image" Target="../media/image120.png"/><Relationship Id="rId27" Type="http://schemas.openxmlformats.org/officeDocument/2006/relationships/image" Target="../media/image125.png"/><Relationship Id="rId30" Type="http://schemas.openxmlformats.org/officeDocument/2006/relationships/image" Target="../media/image128.png"/><Relationship Id="rId35" Type="http://schemas.openxmlformats.org/officeDocument/2006/relationships/image" Target="../media/image133.png"/><Relationship Id="rId8" Type="http://schemas.openxmlformats.org/officeDocument/2006/relationships/image" Target="../media/image106.png"/><Relationship Id="rId3" Type="http://schemas.openxmlformats.org/officeDocument/2006/relationships/image" Target="../media/image10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38.png"/><Relationship Id="rId7" Type="http://schemas.openxmlformats.org/officeDocument/2006/relationships/image" Target="../media/image14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5216" y="2096638"/>
            <a:ext cx="4992624" cy="940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7"/>
              </a:lnSpc>
            </a:pPr>
            <a:r>
              <a:rPr lang="en-US" sz="703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CREDIT CARD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5216" y="3014694"/>
            <a:ext cx="7479792" cy="174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5"/>
              </a:lnSpc>
            </a:pPr>
            <a:r>
              <a:rPr lang="en-US" sz="7037" b="1">
                <a:solidFill>
                  <a:srgbClr val="E1A8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WEEKLY ANALYTICS DASHBOARD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4711687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85216" y="5221892"/>
            <a:ext cx="5815584" cy="959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End-to-End Data Analytics Project using PostgreSQL &amp; Power BI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5216" y="6740376"/>
            <a:ext cx="5687568" cy="43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4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Presented by Krity Pandey | Data Analyst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8570678"/>
            <a:ext cx="1750048" cy="1289974"/>
          </a:xfrm>
          <a:custGeom>
            <a:avLst/>
            <a:gdLst/>
            <a:ahLst/>
            <a:cxnLst/>
            <a:rect l="l" t="t" r="r" b="b"/>
            <a:pathLst>
              <a:path w="1750048" h="1289974">
                <a:moveTo>
                  <a:pt x="0" y="0"/>
                </a:moveTo>
                <a:lnTo>
                  <a:pt x="1750048" y="0"/>
                </a:lnTo>
                <a:lnTo>
                  <a:pt x="175004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64086" y="8778386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176622" y="8997026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821952" y="8570678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821952" y="8778386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572000" y="8997026"/>
            <a:ext cx="875024" cy="43727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217330" y="8570678"/>
            <a:ext cx="1542230" cy="1289974"/>
          </a:xfrm>
          <a:custGeom>
            <a:avLst/>
            <a:gdLst/>
            <a:ahLst/>
            <a:cxnLst/>
            <a:rect l="l" t="t" r="r" b="b"/>
            <a:pathLst>
              <a:path w="1542230" h="1289974">
                <a:moveTo>
                  <a:pt x="0" y="0"/>
                </a:moveTo>
                <a:lnTo>
                  <a:pt x="1542230" y="0"/>
                </a:lnTo>
                <a:lnTo>
                  <a:pt x="154223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436086" y="8778386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748622" y="8997026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175196" y="8570678"/>
            <a:ext cx="2187560" cy="1289974"/>
          </a:xfrm>
          <a:custGeom>
            <a:avLst/>
            <a:gdLst/>
            <a:ahLst/>
            <a:cxnLst/>
            <a:rect l="l" t="t" r="r" b="b"/>
            <a:pathLst>
              <a:path w="2187560" h="1289974">
                <a:moveTo>
                  <a:pt x="0" y="0"/>
                </a:moveTo>
                <a:lnTo>
                  <a:pt x="2187560" y="0"/>
                </a:lnTo>
                <a:lnTo>
                  <a:pt x="218756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393952" y="8778386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065008" y="9096975"/>
            <a:ext cx="987552" cy="269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90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POWER BI</a:t>
            </a:r>
          </a:p>
        </p:txBody>
      </p:sp>
      <p:sp>
        <p:nvSpPr>
          <p:cNvPr id="20" name="Freeform 20"/>
          <p:cNvSpPr/>
          <p:nvPr/>
        </p:nvSpPr>
        <p:spPr>
          <a:xfrm>
            <a:off x="9144000" y="8997026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789330" y="8570678"/>
            <a:ext cx="1542230" cy="1289974"/>
          </a:xfrm>
          <a:custGeom>
            <a:avLst/>
            <a:gdLst/>
            <a:ahLst/>
            <a:cxnLst/>
            <a:rect l="l" t="t" r="r" b="b"/>
            <a:pathLst>
              <a:path w="1542230" h="1289974">
                <a:moveTo>
                  <a:pt x="0" y="0"/>
                </a:moveTo>
                <a:lnTo>
                  <a:pt x="1542230" y="0"/>
                </a:lnTo>
                <a:lnTo>
                  <a:pt x="154223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789330" y="8778386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144000" y="1071335"/>
            <a:ext cx="1750048" cy="2153601"/>
          </a:xfrm>
          <a:custGeom>
            <a:avLst/>
            <a:gdLst/>
            <a:ahLst/>
            <a:cxnLst/>
            <a:rect l="l" t="t" r="r" b="b"/>
            <a:pathLst>
              <a:path w="1750048" h="2153601">
                <a:moveTo>
                  <a:pt x="0" y="0"/>
                </a:moveTo>
                <a:lnTo>
                  <a:pt x="1750048" y="0"/>
                </a:lnTo>
                <a:lnTo>
                  <a:pt x="1750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 rot="-323999">
            <a:off x="9383103" y="1807321"/>
            <a:ext cx="877824" cy="514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2"/>
              </a:lnSpc>
            </a:pPr>
            <a:r>
              <a:rPr lang="en-US" sz="3882" b="1">
                <a:solidFill>
                  <a:srgbClr val="E1A8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57M</a:t>
            </a:r>
          </a:p>
        </p:txBody>
      </p:sp>
      <p:sp>
        <p:nvSpPr>
          <p:cNvPr id="25" name="Freeform 25"/>
          <p:cNvSpPr/>
          <p:nvPr/>
        </p:nvSpPr>
        <p:spPr>
          <a:xfrm>
            <a:off x="9144000" y="2350377"/>
            <a:ext cx="1531292" cy="655919"/>
          </a:xfrm>
          <a:custGeom>
            <a:avLst/>
            <a:gdLst/>
            <a:ahLst/>
            <a:cxnLst/>
            <a:rect l="l" t="t" r="r" b="b"/>
            <a:pathLst>
              <a:path w="1531292" h="655919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664354" y="852695"/>
            <a:ext cx="2187560" cy="2372241"/>
          </a:xfrm>
          <a:custGeom>
            <a:avLst/>
            <a:gdLst/>
            <a:ahLst/>
            <a:cxnLst/>
            <a:rect l="l" t="t" r="r" b="b"/>
            <a:pathLst>
              <a:path w="2187560" h="2372241">
                <a:moveTo>
                  <a:pt x="0" y="0"/>
                </a:moveTo>
                <a:lnTo>
                  <a:pt x="2187560" y="0"/>
                </a:lnTo>
                <a:lnTo>
                  <a:pt x="218756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 rot="-323999">
            <a:off x="11119389" y="1259935"/>
            <a:ext cx="1243584" cy="204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88"/>
              </a:lnSpc>
            </a:pPr>
            <a:r>
              <a:rPr lang="en-US" sz="148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TRANSACTIONS</a:t>
            </a:r>
          </a:p>
        </p:txBody>
      </p:sp>
      <p:sp>
        <p:nvSpPr>
          <p:cNvPr id="28" name="TextBox 28"/>
          <p:cNvSpPr txBox="1"/>
          <p:nvPr/>
        </p:nvSpPr>
        <p:spPr>
          <a:xfrm rot="-323999">
            <a:off x="11083271" y="1669845"/>
            <a:ext cx="1389888" cy="5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7"/>
              </a:lnSpc>
            </a:pPr>
            <a:r>
              <a:rPr lang="en-US" sz="3797" b="1">
                <a:solidFill>
                  <a:srgbClr val="E1A8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667.2K</a:t>
            </a:r>
          </a:p>
        </p:txBody>
      </p:sp>
      <p:sp>
        <p:nvSpPr>
          <p:cNvPr id="29" name="Freeform 29"/>
          <p:cNvSpPr/>
          <p:nvPr/>
        </p:nvSpPr>
        <p:spPr>
          <a:xfrm>
            <a:off x="10883110" y="2142670"/>
            <a:ext cx="1750048" cy="644987"/>
          </a:xfrm>
          <a:custGeom>
            <a:avLst/>
            <a:gdLst/>
            <a:ahLst/>
            <a:cxnLst/>
            <a:rect l="l" t="t" r="r" b="b"/>
            <a:pathLst>
              <a:path w="1750048" h="644987">
                <a:moveTo>
                  <a:pt x="0" y="0"/>
                </a:moveTo>
                <a:lnTo>
                  <a:pt x="1750048" y="0"/>
                </a:lnTo>
                <a:lnTo>
                  <a:pt x="175004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2622220" y="634055"/>
            <a:ext cx="1968804" cy="2372241"/>
          </a:xfrm>
          <a:custGeom>
            <a:avLst/>
            <a:gdLst/>
            <a:ahLst/>
            <a:cxnLst/>
            <a:rect l="l" t="t" r="r" b="b"/>
            <a:pathLst>
              <a:path w="1968804" h="2372241">
                <a:moveTo>
                  <a:pt x="0" y="0"/>
                </a:moveTo>
                <a:lnTo>
                  <a:pt x="1968804" y="0"/>
                </a:lnTo>
                <a:lnTo>
                  <a:pt x="196880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059732" y="1497682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580086" y="207708"/>
            <a:ext cx="3062584" cy="2798589"/>
          </a:xfrm>
          <a:custGeom>
            <a:avLst/>
            <a:gdLst/>
            <a:ahLst/>
            <a:cxnLst/>
            <a:rect l="l" t="t" r="r" b="b"/>
            <a:pathLst>
              <a:path w="3062584" h="2798589">
                <a:moveTo>
                  <a:pt x="0" y="0"/>
                </a:moveTo>
                <a:lnTo>
                  <a:pt x="3062584" y="0"/>
                </a:lnTo>
                <a:lnTo>
                  <a:pt x="306258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 rot="-323999">
            <a:off x="14981707" y="1250078"/>
            <a:ext cx="1865376" cy="650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4"/>
              </a:lnSpc>
            </a:pPr>
            <a:r>
              <a:rPr lang="en-US" sz="4894" b="1">
                <a:solidFill>
                  <a:srgbClr val="E1A8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+28.8%</a:t>
            </a:r>
          </a:p>
        </p:txBody>
      </p:sp>
      <p:sp>
        <p:nvSpPr>
          <p:cNvPr id="34" name="Freeform 34"/>
          <p:cNvSpPr/>
          <p:nvPr/>
        </p:nvSpPr>
        <p:spPr>
          <a:xfrm>
            <a:off x="14798842" y="1497682"/>
            <a:ext cx="2625072" cy="1289974"/>
          </a:xfrm>
          <a:custGeom>
            <a:avLst/>
            <a:gdLst/>
            <a:ahLst/>
            <a:cxnLst/>
            <a:rect l="l" t="t" r="r" b="b"/>
            <a:pathLst>
              <a:path w="2625072" h="1289974">
                <a:moveTo>
                  <a:pt x="0" y="0"/>
                </a:moveTo>
                <a:lnTo>
                  <a:pt x="2625072" y="0"/>
                </a:lnTo>
                <a:lnTo>
                  <a:pt x="262507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7175196" y="3640352"/>
            <a:ext cx="2406316" cy="2361309"/>
          </a:xfrm>
          <a:custGeom>
            <a:avLst/>
            <a:gdLst/>
            <a:ahLst/>
            <a:cxnLst/>
            <a:rect l="l" t="t" r="r" b="b"/>
            <a:pathLst>
              <a:path w="2406316" h="2361309">
                <a:moveTo>
                  <a:pt x="0" y="0"/>
                </a:moveTo>
                <a:lnTo>
                  <a:pt x="2406316" y="0"/>
                </a:lnTo>
                <a:lnTo>
                  <a:pt x="240631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 rot="-323999">
            <a:off x="7516893" y="4127457"/>
            <a:ext cx="1170432" cy="178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4"/>
              </a:lnSpc>
            </a:pPr>
            <a:r>
              <a:rPr lang="en-US" sz="133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REVENUE TREND</a:t>
            </a:r>
          </a:p>
        </p:txBody>
      </p:sp>
      <p:sp>
        <p:nvSpPr>
          <p:cNvPr id="37" name="Freeform 37"/>
          <p:cNvSpPr/>
          <p:nvPr/>
        </p:nvSpPr>
        <p:spPr>
          <a:xfrm>
            <a:off x="7393952" y="4285339"/>
            <a:ext cx="1968804" cy="1508614"/>
          </a:xfrm>
          <a:custGeom>
            <a:avLst/>
            <a:gdLst/>
            <a:ahLst/>
            <a:cxnLst/>
            <a:rect l="l" t="t" r="r" b="b"/>
            <a:pathLst>
              <a:path w="1968804" h="150861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7175196" y="5783021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7393952" y="6428009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9570574" y="2995365"/>
            <a:ext cx="5020450" cy="4077631"/>
          </a:xfrm>
          <a:custGeom>
            <a:avLst/>
            <a:gdLst/>
            <a:ahLst/>
            <a:cxnLst/>
            <a:rect l="l" t="t" r="r" b="b"/>
            <a:pathLst>
              <a:path w="5020450" h="4077631">
                <a:moveTo>
                  <a:pt x="0" y="0"/>
                </a:moveTo>
                <a:lnTo>
                  <a:pt x="5020450" y="0"/>
                </a:lnTo>
                <a:lnTo>
                  <a:pt x="502045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0008086" y="4493047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 rot="-323999">
            <a:off x="10078546" y="5380253"/>
            <a:ext cx="3456432" cy="38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893">
                <a:solidFill>
                  <a:srgbClr val="E1A8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4532 3100 8888 8888</a:t>
            </a:r>
          </a:p>
        </p:txBody>
      </p:sp>
      <p:sp>
        <p:nvSpPr>
          <p:cNvPr id="43" name="TextBox 43"/>
          <p:cNvSpPr txBox="1"/>
          <p:nvPr/>
        </p:nvSpPr>
        <p:spPr>
          <a:xfrm rot="-323999">
            <a:off x="12803880" y="6134674"/>
            <a:ext cx="950976" cy="51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7"/>
              </a:lnSpc>
            </a:pPr>
            <a:r>
              <a:rPr lang="en-US" sz="3837" b="1" i="1">
                <a:solidFill>
                  <a:srgbClr val="E1A84B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VISA</a:t>
            </a:r>
          </a:p>
        </p:txBody>
      </p:sp>
      <p:sp>
        <p:nvSpPr>
          <p:cNvPr id="44" name="Freeform 44"/>
          <p:cNvSpPr/>
          <p:nvPr/>
        </p:nvSpPr>
        <p:spPr>
          <a:xfrm>
            <a:off x="14361330" y="2776725"/>
            <a:ext cx="3281340" cy="2590881"/>
          </a:xfrm>
          <a:custGeom>
            <a:avLst/>
            <a:gdLst/>
            <a:ahLst/>
            <a:cxnLst/>
            <a:rect l="l" t="t" r="r" b="b"/>
            <a:pathLst>
              <a:path w="3281340" h="2590881">
                <a:moveTo>
                  <a:pt x="0" y="0"/>
                </a:moveTo>
                <a:lnTo>
                  <a:pt x="3281340" y="0"/>
                </a:lnTo>
                <a:lnTo>
                  <a:pt x="3281340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4798842" y="3640352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4361330" y="5138034"/>
            <a:ext cx="3281340" cy="2153601"/>
          </a:xfrm>
          <a:custGeom>
            <a:avLst/>
            <a:gdLst/>
            <a:ahLst/>
            <a:cxnLst/>
            <a:rect l="l" t="t" r="r" b="b"/>
            <a:pathLst>
              <a:path w="3281340" h="2153601">
                <a:moveTo>
                  <a:pt x="0" y="0"/>
                </a:moveTo>
                <a:lnTo>
                  <a:pt x="3281340" y="0"/>
                </a:lnTo>
                <a:lnTo>
                  <a:pt x="3281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5236354" y="5783021"/>
            <a:ext cx="1968804" cy="1289974"/>
          </a:xfrm>
          <a:custGeom>
            <a:avLst/>
            <a:gdLst/>
            <a:ahLst/>
            <a:cxnLst/>
            <a:rect l="l" t="t" r="r" b="b"/>
            <a:pathLst>
              <a:path w="1968804" h="1289974">
                <a:moveTo>
                  <a:pt x="0" y="0"/>
                </a:moveTo>
                <a:lnTo>
                  <a:pt x="1968804" y="0"/>
                </a:lnTo>
                <a:lnTo>
                  <a:pt x="196880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1965952" y="7062064"/>
            <a:ext cx="5676718" cy="3017228"/>
          </a:xfrm>
          <a:custGeom>
            <a:avLst/>
            <a:gdLst/>
            <a:ahLst/>
            <a:cxnLst/>
            <a:rect l="l" t="t" r="r" b="b"/>
            <a:pathLst>
              <a:path w="5676718" h="3017228">
                <a:moveTo>
                  <a:pt x="0" y="0"/>
                </a:moveTo>
                <a:lnTo>
                  <a:pt x="5676718" y="0"/>
                </a:lnTo>
                <a:lnTo>
                  <a:pt x="5676718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2622220" y="7499343"/>
            <a:ext cx="3926670" cy="2361309"/>
          </a:xfrm>
          <a:custGeom>
            <a:avLst/>
            <a:gdLst/>
            <a:ahLst/>
            <a:cxnLst/>
            <a:rect l="l" t="t" r="r" b="b"/>
            <a:pathLst>
              <a:path w="3926670" h="2361309">
                <a:moveTo>
                  <a:pt x="0" y="0"/>
                </a:moveTo>
                <a:lnTo>
                  <a:pt x="3926670" y="0"/>
                </a:lnTo>
                <a:lnTo>
                  <a:pt x="3926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6975464" y="8133399"/>
            <a:ext cx="448450" cy="1300906"/>
          </a:xfrm>
          <a:custGeom>
            <a:avLst/>
            <a:gdLst/>
            <a:ahLst/>
            <a:cxnLst/>
            <a:rect l="l" t="t" r="r" b="b"/>
            <a:pathLst>
              <a:path w="448450" h="1300906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 rot="-323999">
            <a:off x="9400353" y="1455012"/>
            <a:ext cx="731520" cy="20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7"/>
              </a:lnSpc>
            </a:pPr>
            <a:r>
              <a:rPr lang="en-US" sz="151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REVENUE</a:t>
            </a:r>
          </a:p>
        </p:txBody>
      </p:sp>
      <p:sp>
        <p:nvSpPr>
          <p:cNvPr id="52" name="TextBox 52"/>
          <p:cNvSpPr txBox="1"/>
          <p:nvPr/>
        </p:nvSpPr>
        <p:spPr>
          <a:xfrm rot="-323999">
            <a:off x="13094701" y="1078870"/>
            <a:ext cx="1078992" cy="2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60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CUSTOMERS</a:t>
            </a:r>
          </a:p>
        </p:txBody>
      </p:sp>
      <p:sp>
        <p:nvSpPr>
          <p:cNvPr id="53" name="TextBox 53"/>
          <p:cNvSpPr txBox="1"/>
          <p:nvPr/>
        </p:nvSpPr>
        <p:spPr>
          <a:xfrm rot="-323999">
            <a:off x="13128173" y="1506720"/>
            <a:ext cx="694944" cy="20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6"/>
              </a:lnSpc>
            </a:pPr>
            <a:r>
              <a:rPr lang="en-US" sz="1496" b="1">
                <a:solidFill>
                  <a:srgbClr val="E1A8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GROWTH</a:t>
            </a:r>
          </a:p>
        </p:txBody>
      </p:sp>
      <p:sp>
        <p:nvSpPr>
          <p:cNvPr id="54" name="TextBox 54"/>
          <p:cNvSpPr txBox="1"/>
          <p:nvPr/>
        </p:nvSpPr>
        <p:spPr>
          <a:xfrm rot="-323999">
            <a:off x="14960077" y="852556"/>
            <a:ext cx="2103120" cy="2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60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WEEKLY PERFORMANCE</a:t>
            </a:r>
          </a:p>
        </p:txBody>
      </p:sp>
      <p:sp>
        <p:nvSpPr>
          <p:cNvPr id="55" name="TextBox 55"/>
          <p:cNvSpPr txBox="1"/>
          <p:nvPr/>
        </p:nvSpPr>
        <p:spPr>
          <a:xfrm rot="-323999">
            <a:off x="14850762" y="3269593"/>
            <a:ext cx="1938528" cy="217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157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CUSTOMER ANALYTICS</a:t>
            </a:r>
          </a:p>
        </p:txBody>
      </p:sp>
      <p:sp>
        <p:nvSpPr>
          <p:cNvPr id="56" name="TextBox 56"/>
          <p:cNvSpPr txBox="1"/>
          <p:nvPr/>
        </p:nvSpPr>
        <p:spPr>
          <a:xfrm rot="-323999">
            <a:off x="16404728" y="3610544"/>
            <a:ext cx="987552" cy="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"/>
              </a:lnSpc>
            </a:pPr>
            <a:r>
              <a:rPr lang="en-US" sz="9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Active Customers</a:t>
            </a:r>
          </a:p>
        </p:txBody>
      </p:sp>
      <p:sp>
        <p:nvSpPr>
          <p:cNvPr id="57" name="TextBox 57"/>
          <p:cNvSpPr txBox="1"/>
          <p:nvPr/>
        </p:nvSpPr>
        <p:spPr>
          <a:xfrm rot="-323999">
            <a:off x="16405242" y="3814804"/>
            <a:ext cx="475488" cy="217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1577" b="1">
                <a:solidFill>
                  <a:srgbClr val="E1A84B"/>
                </a:solidFill>
                <a:latin typeface="Roboto Bold"/>
                <a:ea typeface="Roboto Bold"/>
                <a:cs typeface="Roboto Bold"/>
                <a:sym typeface="Roboto Bold"/>
              </a:rPr>
              <a:t>124K</a:t>
            </a:r>
          </a:p>
        </p:txBody>
      </p:sp>
      <p:sp>
        <p:nvSpPr>
          <p:cNvPr id="58" name="TextBox 58"/>
          <p:cNvSpPr txBox="1"/>
          <p:nvPr/>
        </p:nvSpPr>
        <p:spPr>
          <a:xfrm rot="-323999">
            <a:off x="16404728" y="4135181"/>
            <a:ext cx="987552" cy="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"/>
              </a:lnSpc>
            </a:pPr>
            <a:r>
              <a:rPr lang="en-US" sz="9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New Customers</a:t>
            </a:r>
          </a:p>
        </p:txBody>
      </p:sp>
      <p:sp>
        <p:nvSpPr>
          <p:cNvPr id="59" name="TextBox 59"/>
          <p:cNvSpPr txBox="1"/>
          <p:nvPr/>
        </p:nvSpPr>
        <p:spPr>
          <a:xfrm rot="-323999">
            <a:off x="16404000" y="4352628"/>
            <a:ext cx="475488" cy="191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399" b="1">
                <a:solidFill>
                  <a:srgbClr val="E1A84B"/>
                </a:solidFill>
                <a:latin typeface="Roboto Bold"/>
                <a:ea typeface="Roboto Bold"/>
                <a:cs typeface="Roboto Bold"/>
                <a:sym typeface="Roboto Bold"/>
              </a:rPr>
              <a:t>18.6K</a:t>
            </a:r>
          </a:p>
        </p:txBody>
      </p:sp>
      <p:sp>
        <p:nvSpPr>
          <p:cNvPr id="60" name="TextBox 60"/>
          <p:cNvSpPr txBox="1"/>
          <p:nvPr/>
        </p:nvSpPr>
        <p:spPr>
          <a:xfrm rot="-323999">
            <a:off x="16404728" y="4556948"/>
            <a:ext cx="877824" cy="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"/>
              </a:lnSpc>
            </a:pPr>
            <a:r>
              <a:rPr lang="en-US" sz="9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Retention Rate</a:t>
            </a:r>
          </a:p>
        </p:txBody>
      </p:sp>
      <p:sp>
        <p:nvSpPr>
          <p:cNvPr id="61" name="TextBox 61"/>
          <p:cNvSpPr txBox="1"/>
          <p:nvPr/>
        </p:nvSpPr>
        <p:spPr>
          <a:xfrm rot="-323999">
            <a:off x="16404657" y="4767426"/>
            <a:ext cx="365760" cy="20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7"/>
              </a:lnSpc>
            </a:pPr>
            <a:r>
              <a:rPr lang="en-US" sz="1517" b="1">
                <a:solidFill>
                  <a:srgbClr val="E1A84B"/>
                </a:solidFill>
                <a:latin typeface="Roboto Bold"/>
                <a:ea typeface="Roboto Bold"/>
                <a:cs typeface="Roboto Bold"/>
                <a:sym typeface="Roboto Bold"/>
              </a:rPr>
              <a:t>78%</a:t>
            </a:r>
          </a:p>
        </p:txBody>
      </p:sp>
      <p:sp>
        <p:nvSpPr>
          <p:cNvPr id="62" name="TextBox 62"/>
          <p:cNvSpPr txBox="1"/>
          <p:nvPr/>
        </p:nvSpPr>
        <p:spPr>
          <a:xfrm rot="-323999">
            <a:off x="14741034" y="5512159"/>
            <a:ext cx="1426464" cy="217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157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CARD CATEGORY</a:t>
            </a:r>
          </a:p>
        </p:txBody>
      </p:sp>
      <p:sp>
        <p:nvSpPr>
          <p:cNvPr id="63" name="TextBox 63"/>
          <p:cNvSpPr txBox="1"/>
          <p:nvPr/>
        </p:nvSpPr>
        <p:spPr>
          <a:xfrm rot="-323999">
            <a:off x="14740520" y="5935406"/>
            <a:ext cx="548640" cy="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"/>
              </a:lnSpc>
            </a:pPr>
            <a:r>
              <a:rPr lang="en-US" sz="9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Platinum</a:t>
            </a:r>
          </a:p>
        </p:txBody>
      </p:sp>
      <p:sp>
        <p:nvSpPr>
          <p:cNvPr id="64" name="TextBox 64"/>
          <p:cNvSpPr txBox="1"/>
          <p:nvPr/>
        </p:nvSpPr>
        <p:spPr>
          <a:xfrm rot="-323999">
            <a:off x="14740520" y="6223442"/>
            <a:ext cx="329184" cy="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"/>
              </a:lnSpc>
            </a:pPr>
            <a:r>
              <a:rPr lang="en-US" sz="9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Gold</a:t>
            </a:r>
          </a:p>
        </p:txBody>
      </p:sp>
      <p:sp>
        <p:nvSpPr>
          <p:cNvPr id="65" name="TextBox 65"/>
          <p:cNvSpPr txBox="1"/>
          <p:nvPr/>
        </p:nvSpPr>
        <p:spPr>
          <a:xfrm rot="-323999">
            <a:off x="14740520" y="6511478"/>
            <a:ext cx="475488" cy="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"/>
              </a:lnSpc>
            </a:pPr>
            <a:r>
              <a:rPr lang="en-US" sz="9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Classic</a:t>
            </a:r>
          </a:p>
        </p:txBody>
      </p:sp>
      <p:sp>
        <p:nvSpPr>
          <p:cNvPr id="66" name="TextBox 66"/>
          <p:cNvSpPr txBox="1"/>
          <p:nvPr/>
        </p:nvSpPr>
        <p:spPr>
          <a:xfrm rot="-323999">
            <a:off x="14740520" y="6789227"/>
            <a:ext cx="475488" cy="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"/>
              </a:lnSpc>
            </a:pPr>
            <a:r>
              <a:rPr lang="en-US" sz="9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Business</a:t>
            </a:r>
          </a:p>
        </p:txBody>
      </p:sp>
      <p:sp>
        <p:nvSpPr>
          <p:cNvPr id="67" name="TextBox 67"/>
          <p:cNvSpPr txBox="1"/>
          <p:nvPr/>
        </p:nvSpPr>
        <p:spPr>
          <a:xfrm rot="-323999">
            <a:off x="12363009" y="7524342"/>
            <a:ext cx="1865376" cy="20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7"/>
              </a:lnSpc>
            </a:pPr>
            <a:r>
              <a:rPr lang="en-US" sz="151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GEOGRAPHIC INSIGHTS</a:t>
            </a:r>
          </a:p>
        </p:txBody>
      </p:sp>
      <p:sp>
        <p:nvSpPr>
          <p:cNvPr id="68" name="TextBox 68"/>
          <p:cNvSpPr txBox="1"/>
          <p:nvPr/>
        </p:nvSpPr>
        <p:spPr>
          <a:xfrm rot="-323999">
            <a:off x="17081384" y="7910510"/>
            <a:ext cx="329184" cy="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5"/>
              </a:lnSpc>
            </a:pPr>
            <a:r>
              <a:rPr lang="en-US" sz="9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High</a:t>
            </a:r>
          </a:p>
        </p:txBody>
      </p:sp>
      <p:sp>
        <p:nvSpPr>
          <p:cNvPr id="69" name="TextBox 69"/>
          <p:cNvSpPr txBox="1"/>
          <p:nvPr/>
        </p:nvSpPr>
        <p:spPr>
          <a:xfrm rot="-323999">
            <a:off x="17081384" y="9556430"/>
            <a:ext cx="329184" cy="12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5"/>
              </a:lnSpc>
            </a:pPr>
            <a:r>
              <a:rPr lang="en-US" sz="91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Low</a:t>
            </a:r>
          </a:p>
        </p:txBody>
      </p:sp>
      <p:sp>
        <p:nvSpPr>
          <p:cNvPr id="70" name="TextBox 70"/>
          <p:cNvSpPr txBox="1"/>
          <p:nvPr/>
        </p:nvSpPr>
        <p:spPr>
          <a:xfrm rot="-323999">
            <a:off x="10186909" y="3804925"/>
            <a:ext cx="950976" cy="22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6"/>
              </a:lnSpc>
            </a:pPr>
            <a:r>
              <a:rPr lang="en-US" sz="160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PREMIUM</a:t>
            </a:r>
          </a:p>
        </p:txBody>
      </p:sp>
      <p:sp>
        <p:nvSpPr>
          <p:cNvPr id="71" name="TextBox 71"/>
          <p:cNvSpPr txBox="1"/>
          <p:nvPr/>
        </p:nvSpPr>
        <p:spPr>
          <a:xfrm rot="-323999">
            <a:off x="10187660" y="4062087"/>
            <a:ext cx="1499616" cy="288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42">
                <a:solidFill>
                  <a:srgbClr val="E1A8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 CARD</a:t>
            </a:r>
          </a:p>
        </p:txBody>
      </p:sp>
      <p:sp>
        <p:nvSpPr>
          <p:cNvPr id="72" name="TextBox 72"/>
          <p:cNvSpPr txBox="1"/>
          <p:nvPr/>
        </p:nvSpPr>
        <p:spPr>
          <a:xfrm rot="-323999">
            <a:off x="7516276" y="6191416"/>
            <a:ext cx="1572768" cy="165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8"/>
              </a:lnSpc>
            </a:pPr>
            <a:r>
              <a:rPr lang="en-US" sz="124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TRANSACTION VOLUME</a:t>
            </a:r>
          </a:p>
        </p:txBody>
      </p:sp>
      <p:sp>
        <p:nvSpPr>
          <p:cNvPr id="73" name="TextBox 73"/>
          <p:cNvSpPr txBox="1"/>
          <p:nvPr/>
        </p:nvSpPr>
        <p:spPr>
          <a:xfrm rot="-323999">
            <a:off x="10370540" y="6088626"/>
            <a:ext cx="658368" cy="288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42">
                <a:solidFill>
                  <a:srgbClr val="E1A8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12/28</a:t>
            </a:r>
          </a:p>
        </p:txBody>
      </p:sp>
      <p:sp>
        <p:nvSpPr>
          <p:cNvPr id="74" name="TextBox 74"/>
          <p:cNvSpPr txBox="1"/>
          <p:nvPr/>
        </p:nvSpPr>
        <p:spPr>
          <a:xfrm rot="-323999">
            <a:off x="10003272" y="6047588"/>
            <a:ext cx="219456" cy="250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81"/>
              </a:lnSpc>
            </a:pPr>
            <a:r>
              <a:rPr lang="en-US" sz="818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VALID</a:t>
            </a:r>
          </a:p>
        </p:txBody>
      </p:sp>
      <p:sp>
        <p:nvSpPr>
          <p:cNvPr id="75" name="TextBox 75"/>
          <p:cNvSpPr txBox="1"/>
          <p:nvPr/>
        </p:nvSpPr>
        <p:spPr>
          <a:xfrm rot="-323999">
            <a:off x="10553082" y="6077944"/>
            <a:ext cx="475488" cy="217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7"/>
              </a:lnSpc>
            </a:pPr>
            <a:r>
              <a:rPr lang="en-US" sz="1577" b="1">
                <a:solidFill>
                  <a:srgbClr val="E1A84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12/28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627632" y="9096462"/>
            <a:ext cx="475488" cy="27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94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CSV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566160" y="9098295"/>
            <a:ext cx="1060704" cy="205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7"/>
              </a:lnSpc>
            </a:pPr>
            <a:r>
              <a:rPr lang="en-US" sz="151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POSTGRESQL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163056" y="9096462"/>
            <a:ext cx="475488" cy="27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94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SQL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661904" y="9096462"/>
            <a:ext cx="475488" cy="270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0"/>
              </a:lnSpc>
            </a:pPr>
            <a:r>
              <a:rPr lang="en-US" sz="1940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63056" y="170799"/>
            <a:ext cx="9802368" cy="984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9"/>
              </a:lnSpc>
            </a:pPr>
            <a:r>
              <a:rPr lang="en-US" sz="5778" b="1">
                <a:solidFill>
                  <a:srgbClr val="E1A74B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PROBLEM &amp; PROJECT OBJECTIVE</a:t>
            </a:r>
          </a:p>
        </p:txBody>
      </p:sp>
      <p:sp>
        <p:nvSpPr>
          <p:cNvPr id="4" name="Freeform 4"/>
          <p:cNvSpPr/>
          <p:nvPr/>
        </p:nvSpPr>
        <p:spPr>
          <a:xfrm>
            <a:off x="8268976" y="1071335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1497682"/>
            <a:ext cx="5239206" cy="8155262"/>
          </a:xfrm>
          <a:custGeom>
            <a:avLst/>
            <a:gdLst/>
            <a:ahLst/>
            <a:cxnLst/>
            <a:rect l="l" t="t" r="r" b="b"/>
            <a:pathLst>
              <a:path w="5239206" h="8155262">
                <a:moveTo>
                  <a:pt x="0" y="0"/>
                </a:moveTo>
                <a:lnTo>
                  <a:pt x="5239206" y="0"/>
                </a:lnTo>
                <a:lnTo>
                  <a:pt x="5239206" y="8155263"/>
                </a:lnTo>
                <a:lnTo>
                  <a:pt x="0" y="8155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4086" y="1705390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29968" y="2125465"/>
            <a:ext cx="2779776" cy="41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sz="2406" b="1">
                <a:solidFill>
                  <a:srgbClr val="E1A74B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BUSINESS CHALLENGE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2688" y="3039762"/>
            <a:ext cx="4242816" cy="1780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940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Credit card businesses generate large volumes of transaction and customer data. Without proper analytics, it becomes difficult to monitor performance, understand customer behaviour, and identify business trends.</a:t>
            </a:r>
          </a:p>
        </p:txBody>
      </p:sp>
      <p:sp>
        <p:nvSpPr>
          <p:cNvPr id="9" name="Freeform 9"/>
          <p:cNvSpPr/>
          <p:nvPr/>
        </p:nvSpPr>
        <p:spPr>
          <a:xfrm>
            <a:off x="864086" y="5138034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83664" y="5406129"/>
            <a:ext cx="3017520" cy="32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1972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Revenue performance tracking</a:t>
            </a:r>
          </a:p>
        </p:txBody>
      </p:sp>
      <p:sp>
        <p:nvSpPr>
          <p:cNvPr id="11" name="Freeform 11"/>
          <p:cNvSpPr/>
          <p:nvPr/>
        </p:nvSpPr>
        <p:spPr>
          <a:xfrm>
            <a:off x="864086" y="5990729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883664" y="6264317"/>
            <a:ext cx="2871216" cy="3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2021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Customer behaviour analysis</a:t>
            </a:r>
          </a:p>
        </p:txBody>
      </p:sp>
      <p:sp>
        <p:nvSpPr>
          <p:cNvPr id="13" name="Freeform 13"/>
          <p:cNvSpPr/>
          <p:nvPr/>
        </p:nvSpPr>
        <p:spPr>
          <a:xfrm>
            <a:off x="864086" y="6854356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883664" y="7082910"/>
            <a:ext cx="2871216" cy="32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4"/>
              </a:lnSpc>
            </a:pPr>
            <a:r>
              <a:rPr lang="en-US" sz="1972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Transaction trend monitoring</a:t>
            </a:r>
          </a:p>
        </p:txBody>
      </p:sp>
      <p:sp>
        <p:nvSpPr>
          <p:cNvPr id="15" name="Freeform 15"/>
          <p:cNvSpPr/>
          <p:nvPr/>
        </p:nvSpPr>
        <p:spPr>
          <a:xfrm>
            <a:off x="864086" y="7707051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83664" y="7910845"/>
            <a:ext cx="2706624" cy="33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997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Card category performance</a:t>
            </a:r>
          </a:p>
        </p:txBody>
      </p:sp>
      <p:sp>
        <p:nvSpPr>
          <p:cNvPr id="17" name="Freeform 17"/>
          <p:cNvSpPr/>
          <p:nvPr/>
        </p:nvSpPr>
        <p:spPr>
          <a:xfrm>
            <a:off x="864086" y="8570678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883664" y="8753771"/>
            <a:ext cx="3273552" cy="3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2021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Risk and engagement monitoring</a:t>
            </a:r>
          </a:p>
        </p:txBody>
      </p:sp>
      <p:sp>
        <p:nvSpPr>
          <p:cNvPr id="19" name="Freeform 19"/>
          <p:cNvSpPr/>
          <p:nvPr/>
        </p:nvSpPr>
        <p:spPr>
          <a:xfrm>
            <a:off x="6092354" y="1924030"/>
            <a:ext cx="2406316" cy="863627"/>
          </a:xfrm>
          <a:custGeom>
            <a:avLst/>
            <a:gdLst/>
            <a:ahLst/>
            <a:cxnLst/>
            <a:rect l="l" t="t" r="r" b="b"/>
            <a:pathLst>
              <a:path w="2406316" h="863627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711696" y="2211547"/>
            <a:ext cx="1188720" cy="374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197" b="1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RAW DATA</a:t>
            </a:r>
          </a:p>
        </p:txBody>
      </p:sp>
      <p:sp>
        <p:nvSpPr>
          <p:cNvPr id="21" name="Freeform 21"/>
          <p:cNvSpPr/>
          <p:nvPr/>
        </p:nvSpPr>
        <p:spPr>
          <a:xfrm>
            <a:off x="8487732" y="2142670"/>
            <a:ext cx="875024" cy="43727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9351818" y="1924030"/>
            <a:ext cx="3062584" cy="863627"/>
          </a:xfrm>
          <a:custGeom>
            <a:avLst/>
            <a:gdLst/>
            <a:ahLst/>
            <a:cxnLst/>
            <a:rect l="l" t="t" r="r" b="b"/>
            <a:pathLst>
              <a:path w="3062584" h="863627">
                <a:moveTo>
                  <a:pt x="0" y="0"/>
                </a:moveTo>
                <a:lnTo>
                  <a:pt x="3062584" y="0"/>
                </a:lnTo>
                <a:lnTo>
                  <a:pt x="306258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765792" y="2206406"/>
            <a:ext cx="2249424" cy="384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223" b="1">
                <a:solidFill>
                  <a:srgbClr val="E1A74B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BUSINESS INSIGHTS</a:t>
            </a:r>
          </a:p>
        </p:txBody>
      </p:sp>
      <p:sp>
        <p:nvSpPr>
          <p:cNvPr id="24" name="Freeform 24"/>
          <p:cNvSpPr/>
          <p:nvPr/>
        </p:nvSpPr>
        <p:spPr>
          <a:xfrm>
            <a:off x="5873598" y="3848060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5873598" y="4919394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5873598" y="6209369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831464" y="3421712"/>
            <a:ext cx="3707914" cy="5159898"/>
          </a:xfrm>
          <a:custGeom>
            <a:avLst/>
            <a:gdLst/>
            <a:ahLst/>
            <a:cxnLst/>
            <a:rect l="l" t="t" r="r" b="b"/>
            <a:pathLst>
              <a:path w="3707914" h="5159898">
                <a:moveTo>
                  <a:pt x="0" y="0"/>
                </a:moveTo>
                <a:lnTo>
                  <a:pt x="3707914" y="0"/>
                </a:lnTo>
                <a:lnTo>
                  <a:pt x="3707914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748622" y="6428009"/>
            <a:ext cx="2832890" cy="2361309"/>
          </a:xfrm>
          <a:custGeom>
            <a:avLst/>
            <a:gdLst/>
            <a:ahLst/>
            <a:cxnLst/>
            <a:rect l="l" t="t" r="r" b="b"/>
            <a:pathLst>
              <a:path w="2832890" h="2361309">
                <a:moveTo>
                  <a:pt x="0" y="0"/>
                </a:moveTo>
                <a:lnTo>
                  <a:pt x="2832890" y="0"/>
                </a:lnTo>
                <a:lnTo>
                  <a:pt x="283289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528440" y="3848060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1528440" y="535667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528440" y="6854356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840976" y="1497682"/>
            <a:ext cx="5020450" cy="8155262"/>
          </a:xfrm>
          <a:custGeom>
            <a:avLst/>
            <a:gdLst/>
            <a:ahLst/>
            <a:cxnLst/>
            <a:rect l="l" t="t" r="r" b="b"/>
            <a:pathLst>
              <a:path w="5020450" h="8155262">
                <a:moveTo>
                  <a:pt x="0" y="0"/>
                </a:moveTo>
                <a:lnTo>
                  <a:pt x="5020450" y="0"/>
                </a:lnTo>
                <a:lnTo>
                  <a:pt x="5020450" y="8155263"/>
                </a:lnTo>
                <a:lnTo>
                  <a:pt x="0" y="815526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3278488" y="1705390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4520672" y="2125465"/>
            <a:ext cx="2596896" cy="41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8"/>
              </a:lnSpc>
            </a:pPr>
            <a:r>
              <a:rPr lang="en-US" sz="2406" b="1">
                <a:solidFill>
                  <a:srgbClr val="E1A74B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PROJECT OBJECTIVE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313664" y="3069400"/>
            <a:ext cx="4133088" cy="143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215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Build a refreshing Credit Card Analytics Dashboard that transforms raw transaction data into actionable business insights.</a:t>
            </a:r>
          </a:p>
        </p:txBody>
      </p:sp>
      <p:sp>
        <p:nvSpPr>
          <p:cNvPr id="36" name="Freeform 36"/>
          <p:cNvSpPr/>
          <p:nvPr/>
        </p:nvSpPr>
        <p:spPr>
          <a:xfrm>
            <a:off x="13278488" y="5138034"/>
            <a:ext cx="656268" cy="863627"/>
          </a:xfrm>
          <a:custGeom>
            <a:avLst/>
            <a:gdLst/>
            <a:ahLst/>
            <a:cxnLst/>
            <a:rect l="l" t="t" r="r" b="b"/>
            <a:pathLst>
              <a:path w="656268" h="863627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4063472" y="5410649"/>
            <a:ext cx="2871216" cy="32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045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Monitor weekly performance</a:t>
            </a:r>
          </a:p>
        </p:txBody>
      </p:sp>
      <p:sp>
        <p:nvSpPr>
          <p:cNvPr id="38" name="Freeform 38"/>
          <p:cNvSpPr/>
          <p:nvPr/>
        </p:nvSpPr>
        <p:spPr>
          <a:xfrm>
            <a:off x="13278488" y="5990729"/>
            <a:ext cx="656268" cy="874559"/>
          </a:xfrm>
          <a:custGeom>
            <a:avLst/>
            <a:gdLst/>
            <a:ahLst/>
            <a:cxnLst/>
            <a:rect l="l" t="t" r="r" b="b"/>
            <a:pathLst>
              <a:path w="656268" h="874559">
                <a:moveTo>
                  <a:pt x="0" y="0"/>
                </a:moveTo>
                <a:lnTo>
                  <a:pt x="656268" y="0"/>
                </a:lnTo>
                <a:lnTo>
                  <a:pt x="656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4063472" y="6264470"/>
            <a:ext cx="2834640" cy="32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045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Analyze customer segments</a:t>
            </a:r>
          </a:p>
        </p:txBody>
      </p:sp>
      <p:sp>
        <p:nvSpPr>
          <p:cNvPr id="40" name="Freeform 40"/>
          <p:cNvSpPr/>
          <p:nvPr/>
        </p:nvSpPr>
        <p:spPr>
          <a:xfrm>
            <a:off x="13278488" y="6854356"/>
            <a:ext cx="656268" cy="863627"/>
          </a:xfrm>
          <a:custGeom>
            <a:avLst/>
            <a:gdLst/>
            <a:ahLst/>
            <a:cxnLst/>
            <a:rect l="l" t="t" r="r" b="b"/>
            <a:pathLst>
              <a:path w="656268" h="863627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4063472" y="7098172"/>
            <a:ext cx="2157984" cy="331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6"/>
              </a:lnSpc>
            </a:pPr>
            <a:r>
              <a:rPr lang="en-US" sz="1997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Track revenue growth</a:t>
            </a:r>
          </a:p>
        </p:txBody>
      </p:sp>
      <p:sp>
        <p:nvSpPr>
          <p:cNvPr id="42" name="Freeform 42"/>
          <p:cNvSpPr/>
          <p:nvPr/>
        </p:nvSpPr>
        <p:spPr>
          <a:xfrm>
            <a:off x="13278488" y="7707051"/>
            <a:ext cx="656268" cy="874559"/>
          </a:xfrm>
          <a:custGeom>
            <a:avLst/>
            <a:gdLst/>
            <a:ahLst/>
            <a:cxnLst/>
            <a:rect l="l" t="t" r="r" b="b"/>
            <a:pathLst>
              <a:path w="656268" h="874559">
                <a:moveTo>
                  <a:pt x="0" y="0"/>
                </a:moveTo>
                <a:lnTo>
                  <a:pt x="656268" y="0"/>
                </a:lnTo>
                <a:lnTo>
                  <a:pt x="656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4063472" y="7941251"/>
            <a:ext cx="2414016" cy="32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2045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Identify business trends</a:t>
            </a:r>
          </a:p>
        </p:txBody>
      </p:sp>
      <p:sp>
        <p:nvSpPr>
          <p:cNvPr id="44" name="Freeform 44"/>
          <p:cNvSpPr/>
          <p:nvPr/>
        </p:nvSpPr>
        <p:spPr>
          <a:xfrm>
            <a:off x="13278488" y="8570678"/>
            <a:ext cx="656268" cy="863627"/>
          </a:xfrm>
          <a:custGeom>
            <a:avLst/>
            <a:gdLst/>
            <a:ahLst/>
            <a:cxnLst/>
            <a:rect l="l" t="t" r="r" b="b"/>
            <a:pathLst>
              <a:path w="656268" h="863627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4063472" y="8805206"/>
            <a:ext cx="3017520" cy="3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2021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Support data-driven decisions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980944" y="151401"/>
            <a:ext cx="2999232" cy="101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206"/>
              </a:lnSpc>
            </a:pPr>
            <a:r>
              <a:rPr lang="en-US" sz="5861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21040" y="366678"/>
            <a:ext cx="6035040" cy="912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20"/>
              </a:lnSpc>
            </a:pPr>
            <a:r>
              <a:rPr lang="en-US" sz="6820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DATA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07024" y="1503293"/>
            <a:ext cx="6473952" cy="455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sz="3401" b="1">
                <a:solidFill>
                  <a:srgbClr val="FFFFFF"/>
                </a:solidFill>
                <a:latin typeface="Barlow SemiCondensed Medium"/>
                <a:ea typeface="Barlow SemiCondensed Medium"/>
                <a:cs typeface="Barlow SemiCondensed Medium"/>
                <a:sym typeface="Barlow SemiCondensed Medium"/>
              </a:rPr>
              <a:t>From Raw Data to Interactive Insights</a:t>
            </a:r>
          </a:p>
        </p:txBody>
      </p:sp>
      <p:sp>
        <p:nvSpPr>
          <p:cNvPr id="5" name="Freeform 5"/>
          <p:cNvSpPr/>
          <p:nvPr/>
        </p:nvSpPr>
        <p:spPr>
          <a:xfrm>
            <a:off x="8268976" y="1279043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6574" y="2569017"/>
            <a:ext cx="3937608" cy="5793953"/>
          </a:xfrm>
          <a:custGeom>
            <a:avLst/>
            <a:gdLst/>
            <a:ahLst/>
            <a:cxnLst/>
            <a:rect l="l" t="t" r="r" b="b"/>
            <a:pathLst>
              <a:path w="3937608" h="5793953">
                <a:moveTo>
                  <a:pt x="0" y="0"/>
                </a:moveTo>
                <a:lnTo>
                  <a:pt x="3937608" y="0"/>
                </a:lnTo>
                <a:lnTo>
                  <a:pt x="3937608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57866" y="1924030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354" y="2995365"/>
            <a:ext cx="1750048" cy="1934962"/>
          </a:xfrm>
          <a:custGeom>
            <a:avLst/>
            <a:gdLst/>
            <a:ahLst/>
            <a:cxnLst/>
            <a:rect l="l" t="t" r="r" b="b"/>
            <a:pathLst>
              <a:path w="1750048" h="1934962">
                <a:moveTo>
                  <a:pt x="0" y="0"/>
                </a:moveTo>
                <a:lnTo>
                  <a:pt x="1750048" y="0"/>
                </a:lnTo>
                <a:lnTo>
                  <a:pt x="1750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87552" y="5418608"/>
            <a:ext cx="2871216" cy="29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9"/>
              </a:lnSpc>
            </a:pPr>
            <a:r>
              <a:rPr lang="en-US" sz="2169" b="1">
                <a:solidFill>
                  <a:srgbClr val="D19A4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RAW TRANSACTION DATA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5990729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09344" y="6314927"/>
            <a:ext cx="1517904" cy="24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819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Transaction data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6635716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09344" y="6962495"/>
            <a:ext cx="1353312" cy="24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59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Customer data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5330" y="7280704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09344" y="7631663"/>
            <a:ext cx="1078992" cy="24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819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Card details</a:t>
            </a:r>
          </a:p>
        </p:txBody>
      </p:sp>
      <p:sp>
        <p:nvSpPr>
          <p:cNvPr id="16" name="Freeform 16"/>
          <p:cNvSpPr/>
          <p:nvPr/>
        </p:nvSpPr>
        <p:spPr>
          <a:xfrm>
            <a:off x="4779818" y="2569017"/>
            <a:ext cx="3937608" cy="5793953"/>
          </a:xfrm>
          <a:custGeom>
            <a:avLst/>
            <a:gdLst/>
            <a:ahLst/>
            <a:cxnLst/>
            <a:rect l="l" t="t" r="r" b="b"/>
            <a:pathLst>
              <a:path w="3937608" h="5793953">
                <a:moveTo>
                  <a:pt x="0" y="0"/>
                </a:moveTo>
                <a:lnTo>
                  <a:pt x="3937608" y="0"/>
                </a:lnTo>
                <a:lnTo>
                  <a:pt x="3937608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092354" y="1924030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873598" y="2995365"/>
            <a:ext cx="1531292" cy="2372241"/>
          </a:xfrm>
          <a:custGeom>
            <a:avLst/>
            <a:gdLst/>
            <a:ahLst/>
            <a:cxnLst/>
            <a:rect l="l" t="t" r="r" b="b"/>
            <a:pathLst>
              <a:path w="1531292" h="2372241">
                <a:moveTo>
                  <a:pt x="0" y="0"/>
                </a:moveTo>
                <a:lnTo>
                  <a:pt x="1531292" y="0"/>
                </a:lnTo>
                <a:lnTo>
                  <a:pt x="153129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340096" y="5418267"/>
            <a:ext cx="2761488" cy="29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2196" b="1">
                <a:solidFill>
                  <a:srgbClr val="D19A4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POSTGRESQL DATABASE</a:t>
            </a:r>
          </a:p>
        </p:txBody>
      </p:sp>
      <p:sp>
        <p:nvSpPr>
          <p:cNvPr id="20" name="Freeform 20"/>
          <p:cNvSpPr/>
          <p:nvPr/>
        </p:nvSpPr>
        <p:spPr>
          <a:xfrm>
            <a:off x="4998574" y="5990729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998464" y="6314927"/>
            <a:ext cx="2084832" cy="24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819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Create database tables</a:t>
            </a:r>
          </a:p>
        </p:txBody>
      </p:sp>
      <p:sp>
        <p:nvSpPr>
          <p:cNvPr id="22" name="Freeform 22"/>
          <p:cNvSpPr/>
          <p:nvPr/>
        </p:nvSpPr>
        <p:spPr>
          <a:xfrm>
            <a:off x="4998574" y="6635716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998464" y="6963008"/>
            <a:ext cx="1444752" cy="24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819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Import CSV files</a:t>
            </a:r>
          </a:p>
        </p:txBody>
      </p:sp>
      <p:sp>
        <p:nvSpPr>
          <p:cNvPr id="24" name="Freeform 24"/>
          <p:cNvSpPr/>
          <p:nvPr/>
        </p:nvSpPr>
        <p:spPr>
          <a:xfrm>
            <a:off x="4998574" y="7280704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5998464" y="7631663"/>
            <a:ext cx="1956816" cy="24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819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Store structured data</a:t>
            </a:r>
          </a:p>
        </p:txBody>
      </p:sp>
      <p:sp>
        <p:nvSpPr>
          <p:cNvPr id="26" name="Freeform 26"/>
          <p:cNvSpPr/>
          <p:nvPr/>
        </p:nvSpPr>
        <p:spPr>
          <a:xfrm>
            <a:off x="9144000" y="2569017"/>
            <a:ext cx="3926670" cy="5793953"/>
          </a:xfrm>
          <a:custGeom>
            <a:avLst/>
            <a:gdLst/>
            <a:ahLst/>
            <a:cxnLst/>
            <a:rect l="l" t="t" r="r" b="b"/>
            <a:pathLst>
              <a:path w="3926670" h="5793953">
                <a:moveTo>
                  <a:pt x="0" y="0"/>
                </a:moveTo>
                <a:lnTo>
                  <a:pt x="3926670" y="0"/>
                </a:lnTo>
                <a:lnTo>
                  <a:pt x="3926670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664354" y="1924030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570574" y="2995365"/>
            <a:ext cx="3281340" cy="2372241"/>
          </a:xfrm>
          <a:custGeom>
            <a:avLst/>
            <a:gdLst/>
            <a:ahLst/>
            <a:cxnLst/>
            <a:rect l="l" t="t" r="r" b="b"/>
            <a:pathLst>
              <a:path w="3281340" h="2372241">
                <a:moveTo>
                  <a:pt x="0" y="0"/>
                </a:moveTo>
                <a:lnTo>
                  <a:pt x="3281340" y="0"/>
                </a:lnTo>
                <a:lnTo>
                  <a:pt x="328134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9893808" y="5418267"/>
            <a:ext cx="2596896" cy="29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2196" b="1">
                <a:solidFill>
                  <a:srgbClr val="D19A4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SQL DATA PROCESSING</a:t>
            </a:r>
          </a:p>
        </p:txBody>
      </p:sp>
      <p:sp>
        <p:nvSpPr>
          <p:cNvPr id="30" name="Freeform 30"/>
          <p:cNvSpPr/>
          <p:nvPr/>
        </p:nvSpPr>
        <p:spPr>
          <a:xfrm>
            <a:off x="9570574" y="5990729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314432" y="6308436"/>
            <a:ext cx="1389888" cy="26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0"/>
              </a:lnSpc>
            </a:pPr>
            <a:r>
              <a:rPr lang="en-US" sz="1900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Data validation</a:t>
            </a:r>
          </a:p>
        </p:txBody>
      </p:sp>
      <p:sp>
        <p:nvSpPr>
          <p:cNvPr id="32" name="Freeform 32"/>
          <p:cNvSpPr/>
          <p:nvPr/>
        </p:nvSpPr>
        <p:spPr>
          <a:xfrm>
            <a:off x="9570574" y="6635716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0314432" y="6956004"/>
            <a:ext cx="1298448" cy="26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940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Data cleaning</a:t>
            </a:r>
          </a:p>
        </p:txBody>
      </p:sp>
      <p:sp>
        <p:nvSpPr>
          <p:cNvPr id="34" name="Freeform 34"/>
          <p:cNvSpPr/>
          <p:nvPr/>
        </p:nvSpPr>
        <p:spPr>
          <a:xfrm>
            <a:off x="9570574" y="7280704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0314432" y="7631663"/>
            <a:ext cx="2231136" cy="24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819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Create analytical metrics</a:t>
            </a:r>
          </a:p>
        </p:txBody>
      </p:sp>
      <p:sp>
        <p:nvSpPr>
          <p:cNvPr id="36" name="Freeform 36"/>
          <p:cNvSpPr/>
          <p:nvPr/>
        </p:nvSpPr>
        <p:spPr>
          <a:xfrm>
            <a:off x="13716000" y="2569017"/>
            <a:ext cx="3926670" cy="5793953"/>
          </a:xfrm>
          <a:custGeom>
            <a:avLst/>
            <a:gdLst/>
            <a:ahLst/>
            <a:cxnLst/>
            <a:rect l="l" t="t" r="r" b="b"/>
            <a:pathLst>
              <a:path w="3926670" h="5793953">
                <a:moveTo>
                  <a:pt x="0" y="0"/>
                </a:moveTo>
                <a:lnTo>
                  <a:pt x="3926670" y="0"/>
                </a:lnTo>
                <a:lnTo>
                  <a:pt x="3926670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5017598" y="1924030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4142574" y="2995365"/>
            <a:ext cx="3281340" cy="2372241"/>
          </a:xfrm>
          <a:custGeom>
            <a:avLst/>
            <a:gdLst/>
            <a:ahLst/>
            <a:cxnLst/>
            <a:rect l="l" t="t" r="r" b="b"/>
            <a:pathLst>
              <a:path w="3281340" h="2372241">
                <a:moveTo>
                  <a:pt x="0" y="0"/>
                </a:moveTo>
                <a:lnTo>
                  <a:pt x="3281340" y="0"/>
                </a:lnTo>
                <a:lnTo>
                  <a:pt x="328134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4191488" y="5418267"/>
            <a:ext cx="2962656" cy="290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6"/>
              </a:lnSpc>
            </a:pPr>
            <a:r>
              <a:rPr lang="en-US" sz="2196" b="1">
                <a:solidFill>
                  <a:srgbClr val="D19A4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INTERACTIVE DASHBOARD</a:t>
            </a:r>
          </a:p>
        </p:txBody>
      </p:sp>
      <p:sp>
        <p:nvSpPr>
          <p:cNvPr id="40" name="Freeform 40"/>
          <p:cNvSpPr/>
          <p:nvPr/>
        </p:nvSpPr>
        <p:spPr>
          <a:xfrm>
            <a:off x="13923818" y="5990729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4758416" y="6314414"/>
            <a:ext cx="1353312" cy="24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9"/>
              </a:lnSpc>
            </a:pPr>
            <a:r>
              <a:rPr lang="en-US" sz="1859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KPI monitoring</a:t>
            </a:r>
          </a:p>
        </p:txBody>
      </p:sp>
      <p:sp>
        <p:nvSpPr>
          <p:cNvPr id="42" name="Freeform 42"/>
          <p:cNvSpPr/>
          <p:nvPr/>
        </p:nvSpPr>
        <p:spPr>
          <a:xfrm>
            <a:off x="13923818" y="6635716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4758416" y="6963008"/>
            <a:ext cx="1572768" cy="247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819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Business insights</a:t>
            </a:r>
          </a:p>
        </p:txBody>
      </p:sp>
      <p:sp>
        <p:nvSpPr>
          <p:cNvPr id="44" name="Freeform 44"/>
          <p:cNvSpPr/>
          <p:nvPr/>
        </p:nvSpPr>
        <p:spPr>
          <a:xfrm>
            <a:off x="13923818" y="7280704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4758416" y="7638154"/>
            <a:ext cx="2560320" cy="234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38"/>
              </a:lnSpc>
            </a:pPr>
            <a:r>
              <a:rPr lang="en-US" sz="1738">
                <a:solidFill>
                  <a:srgbClr val="FFFFFF"/>
                </a:solidFill>
                <a:latin typeface="Barlow SemiCondensed"/>
                <a:ea typeface="Barlow SemiCondensed"/>
                <a:cs typeface="Barlow SemiCondensed"/>
                <a:sym typeface="Barlow SemiCondensed"/>
              </a:rPr>
              <a:t>Weekly performance tracking</a:t>
            </a:r>
          </a:p>
        </p:txBody>
      </p:sp>
      <p:sp>
        <p:nvSpPr>
          <p:cNvPr id="46" name="Freeform 46"/>
          <p:cNvSpPr/>
          <p:nvPr/>
        </p:nvSpPr>
        <p:spPr>
          <a:xfrm>
            <a:off x="4134488" y="3848060"/>
            <a:ext cx="875024" cy="874559"/>
          </a:xfrm>
          <a:custGeom>
            <a:avLst/>
            <a:gdLst/>
            <a:ahLst/>
            <a:cxnLst/>
            <a:rect l="l" t="t" r="r" b="b"/>
            <a:pathLst>
              <a:path w="875024" h="874559">
                <a:moveTo>
                  <a:pt x="0" y="0"/>
                </a:moveTo>
                <a:lnTo>
                  <a:pt x="875024" y="0"/>
                </a:lnTo>
                <a:lnTo>
                  <a:pt x="87502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8487732" y="3848060"/>
            <a:ext cx="875024" cy="874559"/>
          </a:xfrm>
          <a:custGeom>
            <a:avLst/>
            <a:gdLst/>
            <a:ahLst/>
            <a:cxnLst/>
            <a:rect l="l" t="t" r="r" b="b"/>
            <a:pathLst>
              <a:path w="875024" h="874559">
                <a:moveTo>
                  <a:pt x="0" y="0"/>
                </a:moveTo>
                <a:lnTo>
                  <a:pt x="875024" y="0"/>
                </a:lnTo>
                <a:lnTo>
                  <a:pt x="87502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3059732" y="3848060"/>
            <a:ext cx="875024" cy="874559"/>
          </a:xfrm>
          <a:custGeom>
            <a:avLst/>
            <a:gdLst/>
            <a:ahLst/>
            <a:cxnLst/>
            <a:rect l="l" t="t" r="r" b="b"/>
            <a:pathLst>
              <a:path w="875024" h="874559">
                <a:moveTo>
                  <a:pt x="0" y="0"/>
                </a:moveTo>
                <a:lnTo>
                  <a:pt x="875024" y="0"/>
                </a:lnTo>
                <a:lnTo>
                  <a:pt x="87502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082842" y="8352038"/>
            <a:ext cx="16122316" cy="1727254"/>
          </a:xfrm>
          <a:custGeom>
            <a:avLst/>
            <a:gdLst/>
            <a:ahLst/>
            <a:cxnLst/>
            <a:rect l="l" t="t" r="r" b="b"/>
            <a:pathLst>
              <a:path w="16122316" h="1727254">
                <a:moveTo>
                  <a:pt x="0" y="0"/>
                </a:moveTo>
                <a:lnTo>
                  <a:pt x="16122316" y="0"/>
                </a:lnTo>
                <a:lnTo>
                  <a:pt x="16122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520354" y="8570678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2999232" y="8956653"/>
            <a:ext cx="1463040" cy="291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3"/>
              </a:lnSpc>
            </a:pPr>
            <a:r>
              <a:rPr lang="en-US" sz="2223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CLEAN DATA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99232" y="9324973"/>
            <a:ext cx="2761488" cy="31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330" b="1">
                <a:solidFill>
                  <a:srgbClr val="D19A4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→ RELIABLE ANALYSIS</a:t>
            </a:r>
          </a:p>
        </p:txBody>
      </p:sp>
      <p:sp>
        <p:nvSpPr>
          <p:cNvPr id="53" name="Freeform 53"/>
          <p:cNvSpPr/>
          <p:nvPr/>
        </p:nvSpPr>
        <p:spPr>
          <a:xfrm>
            <a:off x="6092354" y="8570678"/>
            <a:ext cx="229694" cy="1289974"/>
          </a:xfrm>
          <a:custGeom>
            <a:avLst/>
            <a:gdLst/>
            <a:ahLst/>
            <a:cxnLst/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6529866" y="8570678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7973568" y="8944354"/>
            <a:ext cx="2761488" cy="31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330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STRUCTURED PROCESS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973568" y="9324973"/>
            <a:ext cx="3035808" cy="31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330" b="1">
                <a:solidFill>
                  <a:srgbClr val="D19A4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→ EFFICIENT WORKFLOW</a:t>
            </a:r>
          </a:p>
        </p:txBody>
      </p:sp>
      <p:sp>
        <p:nvSpPr>
          <p:cNvPr id="57" name="Freeform 57"/>
          <p:cNvSpPr/>
          <p:nvPr/>
        </p:nvSpPr>
        <p:spPr>
          <a:xfrm>
            <a:off x="11528440" y="8570678"/>
            <a:ext cx="229694" cy="1289974"/>
          </a:xfrm>
          <a:custGeom>
            <a:avLst/>
            <a:gdLst/>
            <a:ahLst/>
            <a:cxnLst/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1965952" y="8570678"/>
            <a:ext cx="1104718" cy="1289974"/>
          </a:xfrm>
          <a:custGeom>
            <a:avLst/>
            <a:gdLst/>
            <a:ahLst/>
            <a:cxnLst/>
            <a:rect l="l" t="t" r="r" b="b"/>
            <a:pathLst>
              <a:path w="1104718" h="1289974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59" name="TextBox 59"/>
          <p:cNvSpPr txBox="1"/>
          <p:nvPr/>
        </p:nvSpPr>
        <p:spPr>
          <a:xfrm>
            <a:off x="13258800" y="8950162"/>
            <a:ext cx="2670048" cy="304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3"/>
              </a:lnSpc>
            </a:pPr>
            <a:r>
              <a:rPr lang="en-US" sz="2303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ACTIONABLE INSIGHTS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258800" y="9324973"/>
            <a:ext cx="2596896" cy="31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330" b="1">
                <a:solidFill>
                  <a:srgbClr val="D19A40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→ BETTER DECISIONS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858768" y="385958"/>
            <a:ext cx="4279392" cy="87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3"/>
              </a:lnSpc>
            </a:pPr>
            <a:r>
              <a:rPr lang="en-US" sz="6593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END-TO-END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212848" y="2234347"/>
            <a:ext cx="420624" cy="209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0"/>
              </a:lnSpc>
            </a:pPr>
            <a:r>
              <a:rPr lang="en-US" sz="1630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STEP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492240" y="2234347"/>
            <a:ext cx="420624" cy="209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0"/>
              </a:lnSpc>
            </a:pPr>
            <a:r>
              <a:rPr lang="en-US" sz="1630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STEP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972800" y="2234347"/>
            <a:ext cx="420624" cy="209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0"/>
              </a:lnSpc>
            </a:pPr>
            <a:r>
              <a:rPr lang="en-US" sz="1630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STEP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453360" y="2234347"/>
            <a:ext cx="420624" cy="209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0"/>
              </a:lnSpc>
            </a:pPr>
            <a:r>
              <a:rPr lang="en-US" sz="1630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STEP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359152" y="2380064"/>
            <a:ext cx="219456" cy="54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4107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638544" y="2380064"/>
            <a:ext cx="219456" cy="54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4107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2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119104" y="2380064"/>
            <a:ext cx="219456" cy="54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4107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3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5581376" y="2380064"/>
            <a:ext cx="219456" cy="541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</a:pPr>
            <a:r>
              <a:rPr lang="en-US" sz="4107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4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048256" y="4175567"/>
            <a:ext cx="786384" cy="429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sz="3232" b="1">
                <a:solidFill>
                  <a:srgbClr val="FFFFFF"/>
                </a:solidFill>
                <a:latin typeface="Barlow SemiCondensed Semi-Bold"/>
                <a:ea typeface="Barlow SemiCondensed Semi-Bold"/>
                <a:cs typeface="Barlow SemiCondensed Semi-Bold"/>
                <a:sym typeface="Barlow SemiCondensed Semi-Bold"/>
              </a:rPr>
              <a:t>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84448" y="88437"/>
            <a:ext cx="6986016" cy="119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60"/>
              </a:lnSpc>
            </a:pPr>
            <a:r>
              <a:rPr lang="en-US" sz="6971" b="1">
                <a:solidFill>
                  <a:srgbClr val="FFFFFF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DATA PREPARATION &amp;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91456" y="1378375"/>
            <a:ext cx="8814816" cy="58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Transforming Raw_CSV Data into Analytics-Ready Data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569017"/>
            <a:ext cx="3937608" cy="5148966"/>
          </a:xfrm>
          <a:custGeom>
            <a:avLst/>
            <a:gdLst/>
            <a:ahLst/>
            <a:cxnLst/>
            <a:rect l="l" t="t" r="r" b="b"/>
            <a:pathLst>
              <a:path w="3937608" h="5148966">
                <a:moveTo>
                  <a:pt x="0" y="0"/>
                </a:moveTo>
                <a:lnTo>
                  <a:pt x="3937608" y="0"/>
                </a:lnTo>
                <a:lnTo>
                  <a:pt x="3937608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957866" y="1924030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2842" y="2776725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87552" y="4986110"/>
            <a:ext cx="2798064" cy="43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sz="2524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CSV DATA PREPARATION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645330" y="5564382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44752" y="5816901"/>
            <a:ext cx="2450592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Prepared transaction dataset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620936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44752" y="6444408"/>
            <a:ext cx="2286000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Prepared customer dataset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5330" y="6854356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444752" y="7030767"/>
            <a:ext cx="1938528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Checked data structure</a:t>
            </a:r>
          </a:p>
        </p:txBody>
      </p:sp>
      <p:sp>
        <p:nvSpPr>
          <p:cNvPr id="15" name="Freeform 15"/>
          <p:cNvSpPr/>
          <p:nvPr/>
        </p:nvSpPr>
        <p:spPr>
          <a:xfrm>
            <a:off x="4779818" y="2569017"/>
            <a:ext cx="3718852" cy="5148966"/>
          </a:xfrm>
          <a:custGeom>
            <a:avLst/>
            <a:gdLst/>
            <a:ahLst/>
            <a:cxnLst/>
            <a:rect l="l" t="t" r="r" b="b"/>
            <a:pathLst>
              <a:path w="3718852" h="5148966">
                <a:moveTo>
                  <a:pt x="0" y="0"/>
                </a:moveTo>
                <a:lnTo>
                  <a:pt x="3718852" y="0"/>
                </a:lnTo>
                <a:lnTo>
                  <a:pt x="3718852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092354" y="1924030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873598" y="2776725"/>
            <a:ext cx="1531292" cy="2153601"/>
          </a:xfrm>
          <a:custGeom>
            <a:avLst/>
            <a:gdLst/>
            <a:ahLst/>
            <a:cxnLst/>
            <a:rect l="l" t="t" r="r" b="b"/>
            <a:pathLst>
              <a:path w="1531292" h="2153601">
                <a:moveTo>
                  <a:pt x="0" y="0"/>
                </a:moveTo>
                <a:lnTo>
                  <a:pt x="1531292" y="0"/>
                </a:lnTo>
                <a:lnTo>
                  <a:pt x="153129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431536" y="4986110"/>
            <a:ext cx="2414016" cy="431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</a:pPr>
            <a:r>
              <a:rPr lang="en-US" sz="2524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DATABASE CREATION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4998574" y="5564382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742432" y="5816901"/>
            <a:ext cx="2249424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Created PostgreSQL tables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4998574" y="620936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742432" y="6444408"/>
            <a:ext cx="1664208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Structured raw data</a:t>
            </a:r>
          </a:p>
        </p:txBody>
      </p:sp>
      <p:sp>
        <p:nvSpPr>
          <p:cNvPr id="23" name="Freeform 23"/>
          <p:cNvSpPr/>
          <p:nvPr/>
        </p:nvSpPr>
        <p:spPr>
          <a:xfrm>
            <a:off x="4998574" y="6854356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5742432" y="7030767"/>
            <a:ext cx="2615184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Prepared database environment</a:t>
            </a:r>
          </a:p>
        </p:txBody>
      </p:sp>
      <p:sp>
        <p:nvSpPr>
          <p:cNvPr id="25" name="Freeform 25"/>
          <p:cNvSpPr/>
          <p:nvPr/>
        </p:nvSpPr>
        <p:spPr>
          <a:xfrm>
            <a:off x="9144000" y="2569017"/>
            <a:ext cx="4145426" cy="5148966"/>
          </a:xfrm>
          <a:custGeom>
            <a:avLst/>
            <a:gdLst/>
            <a:ahLst/>
            <a:cxnLst/>
            <a:rect l="l" t="t" r="r" b="b"/>
            <a:pathLst>
              <a:path w="4145426" h="5148966">
                <a:moveTo>
                  <a:pt x="0" y="0"/>
                </a:moveTo>
                <a:lnTo>
                  <a:pt x="4145426" y="0"/>
                </a:lnTo>
                <a:lnTo>
                  <a:pt x="4145426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664354" y="1924030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351818" y="2776725"/>
            <a:ext cx="3718852" cy="2153601"/>
          </a:xfrm>
          <a:custGeom>
            <a:avLst/>
            <a:gdLst/>
            <a:ahLst/>
            <a:cxnLst/>
            <a:rect l="l" t="t" r="r" b="b"/>
            <a:pathLst>
              <a:path w="3718852" h="2153601">
                <a:moveTo>
                  <a:pt x="0" y="0"/>
                </a:moveTo>
                <a:lnTo>
                  <a:pt x="3718852" y="0"/>
                </a:lnTo>
                <a:lnTo>
                  <a:pt x="371885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424160" y="5000629"/>
            <a:ext cx="1499616" cy="40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sz="2376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DATA IMPORT</a:t>
            </a:r>
          </a:p>
        </p:txBody>
      </p:sp>
      <p:sp>
        <p:nvSpPr>
          <p:cNvPr id="29" name="Freeform 29"/>
          <p:cNvSpPr/>
          <p:nvPr/>
        </p:nvSpPr>
        <p:spPr>
          <a:xfrm>
            <a:off x="9351818" y="5564382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186416" y="5816901"/>
            <a:ext cx="2816352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Loaded CSV files into PostgreSQL</a:t>
            </a:r>
          </a:p>
        </p:txBody>
      </p:sp>
      <p:sp>
        <p:nvSpPr>
          <p:cNvPr id="31" name="Freeform 31"/>
          <p:cNvSpPr/>
          <p:nvPr/>
        </p:nvSpPr>
        <p:spPr>
          <a:xfrm>
            <a:off x="9351818" y="620936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0186416" y="6444408"/>
            <a:ext cx="2157984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Used SQL COPY command</a:t>
            </a:r>
          </a:p>
        </p:txBody>
      </p:sp>
      <p:sp>
        <p:nvSpPr>
          <p:cNvPr id="33" name="Freeform 33"/>
          <p:cNvSpPr/>
          <p:nvPr/>
        </p:nvSpPr>
        <p:spPr>
          <a:xfrm>
            <a:off x="9351818" y="6854356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186416" y="7030767"/>
            <a:ext cx="2249424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Imported data successfully</a:t>
            </a:r>
          </a:p>
        </p:txBody>
      </p:sp>
      <p:sp>
        <p:nvSpPr>
          <p:cNvPr id="35" name="Freeform 35"/>
          <p:cNvSpPr/>
          <p:nvPr/>
        </p:nvSpPr>
        <p:spPr>
          <a:xfrm>
            <a:off x="13716000" y="2569017"/>
            <a:ext cx="4145426" cy="5148966"/>
          </a:xfrm>
          <a:custGeom>
            <a:avLst/>
            <a:gdLst/>
            <a:ahLst/>
            <a:cxnLst/>
            <a:rect l="l" t="t" r="r" b="b"/>
            <a:pathLst>
              <a:path w="4145426" h="5148966">
                <a:moveTo>
                  <a:pt x="0" y="0"/>
                </a:moveTo>
                <a:lnTo>
                  <a:pt x="4145426" y="0"/>
                </a:lnTo>
                <a:lnTo>
                  <a:pt x="4145426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5236354" y="1924030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4798842" y="2776725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4740128" y="4981299"/>
            <a:ext cx="2011680" cy="43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</a:pPr>
            <a:r>
              <a:rPr lang="en-US" sz="2465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DATA VALIDATION</a:t>
            </a:r>
          </a:p>
        </p:txBody>
      </p:sp>
      <p:sp>
        <p:nvSpPr>
          <p:cNvPr id="39" name="Freeform 39"/>
          <p:cNvSpPr/>
          <p:nvPr/>
        </p:nvSpPr>
        <p:spPr>
          <a:xfrm>
            <a:off x="13923818" y="5564382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4703552" y="5816901"/>
            <a:ext cx="1335024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Verified records</a:t>
            </a:r>
          </a:p>
        </p:txBody>
      </p:sp>
      <p:sp>
        <p:nvSpPr>
          <p:cNvPr id="41" name="Freeform 41"/>
          <p:cNvSpPr/>
          <p:nvPr/>
        </p:nvSpPr>
        <p:spPr>
          <a:xfrm>
            <a:off x="13923818" y="620936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4703552" y="6444408"/>
            <a:ext cx="2194560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Checked data consistency</a:t>
            </a:r>
          </a:p>
        </p:txBody>
      </p:sp>
      <p:sp>
        <p:nvSpPr>
          <p:cNvPr id="43" name="Freeform 43"/>
          <p:cNvSpPr/>
          <p:nvPr/>
        </p:nvSpPr>
        <p:spPr>
          <a:xfrm>
            <a:off x="13923818" y="6854356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4703552" y="7030767"/>
            <a:ext cx="2852928" cy="280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Prepared data for Power BI analysis</a:t>
            </a:r>
          </a:p>
        </p:txBody>
      </p:sp>
      <p:sp>
        <p:nvSpPr>
          <p:cNvPr id="45" name="Freeform 45"/>
          <p:cNvSpPr/>
          <p:nvPr/>
        </p:nvSpPr>
        <p:spPr>
          <a:xfrm>
            <a:off x="1301598" y="7707051"/>
            <a:ext cx="15903560" cy="1727254"/>
          </a:xfrm>
          <a:custGeom>
            <a:avLst/>
            <a:gdLst/>
            <a:ahLst/>
            <a:cxnLst/>
            <a:rect l="l" t="t" r="r" b="b"/>
            <a:pathLst>
              <a:path w="15903560" h="1727254">
                <a:moveTo>
                  <a:pt x="0" y="0"/>
                </a:moveTo>
                <a:lnTo>
                  <a:pt x="15903560" y="0"/>
                </a:lnTo>
                <a:lnTo>
                  <a:pt x="1590356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739110" y="8133399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3035808" y="8373617"/>
            <a:ext cx="1335024" cy="47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1">
                <a:solidFill>
                  <a:srgbClr val="FFFFFF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CSV FILES</a:t>
            </a:r>
          </a:p>
        </p:txBody>
      </p:sp>
      <p:sp>
        <p:nvSpPr>
          <p:cNvPr id="48" name="Freeform 48"/>
          <p:cNvSpPr/>
          <p:nvPr/>
        </p:nvSpPr>
        <p:spPr>
          <a:xfrm>
            <a:off x="4572000" y="8352038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5436086" y="8133399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6821424" y="8296874"/>
            <a:ext cx="1755648" cy="758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723" b="1">
                <a:solidFill>
                  <a:srgbClr val="FFFFFF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POSTGRESQL TABLES</a:t>
            </a:r>
          </a:p>
        </p:txBody>
      </p:sp>
      <p:sp>
        <p:nvSpPr>
          <p:cNvPr id="51" name="Freeform 51"/>
          <p:cNvSpPr/>
          <p:nvPr/>
        </p:nvSpPr>
        <p:spPr>
          <a:xfrm>
            <a:off x="8706488" y="8352038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9789330" y="813339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11027664" y="8296874"/>
            <a:ext cx="1499616" cy="758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723" b="1">
                <a:solidFill>
                  <a:srgbClr val="FFFFFF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SQL VALIDATION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40976" y="8352038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3716000" y="8133399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14959584" y="8296874"/>
            <a:ext cx="1609344" cy="758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723" b="1">
                <a:solidFill>
                  <a:srgbClr val="FFFFFF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ANALYTICS READY DATA</a:t>
            </a:r>
          </a:p>
        </p:txBody>
      </p:sp>
      <p:sp>
        <p:nvSpPr>
          <p:cNvPr id="57" name="Freeform 57"/>
          <p:cNvSpPr/>
          <p:nvPr/>
        </p:nvSpPr>
        <p:spPr>
          <a:xfrm>
            <a:off x="5654842" y="9423373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8" name="TextBox 58"/>
          <p:cNvSpPr txBox="1"/>
          <p:nvPr/>
        </p:nvSpPr>
        <p:spPr>
          <a:xfrm>
            <a:off x="6291072" y="9566909"/>
            <a:ext cx="1554480" cy="47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TOOLS USED</a:t>
            </a:r>
          </a:p>
        </p:txBody>
      </p:sp>
      <p:sp>
        <p:nvSpPr>
          <p:cNvPr id="59" name="Freeform 59"/>
          <p:cNvSpPr/>
          <p:nvPr/>
        </p:nvSpPr>
        <p:spPr>
          <a:xfrm>
            <a:off x="4134488" y="3640352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8268976" y="3640352"/>
            <a:ext cx="1093780" cy="863627"/>
          </a:xfrm>
          <a:custGeom>
            <a:avLst/>
            <a:gdLst/>
            <a:ahLst/>
            <a:cxnLst/>
            <a:rect l="l" t="t" r="r" b="b"/>
            <a:pathLst>
              <a:path w="1093780" h="863627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3059732" y="3640352"/>
            <a:ext cx="875024" cy="863627"/>
          </a:xfrm>
          <a:custGeom>
            <a:avLst/>
            <a:gdLst/>
            <a:ahLst/>
            <a:cxnLst/>
            <a:rect l="l" t="t" r="r" b="b"/>
            <a:pathLst>
              <a:path w="875024" h="863627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10716768" y="79427"/>
            <a:ext cx="4279392" cy="120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72"/>
              </a:lnSpc>
            </a:pPr>
            <a:r>
              <a:rPr lang="en-US" sz="7123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SQL PROCESS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121408" y="2067678"/>
            <a:ext cx="548640" cy="29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STAGE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22576" y="2170474"/>
            <a:ext cx="182880" cy="58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1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419088" y="2067678"/>
            <a:ext cx="548640" cy="29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STAGE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47104" y="2170474"/>
            <a:ext cx="256032" cy="58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2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991088" y="2067678"/>
            <a:ext cx="548640" cy="29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STAGE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119104" y="2170474"/>
            <a:ext cx="256032" cy="58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3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5508224" y="2067678"/>
            <a:ext cx="548640" cy="29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STAGE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5636240" y="2170474"/>
            <a:ext cx="256032" cy="581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4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609344" y="3824054"/>
            <a:ext cx="621792" cy="430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4" b="1">
                <a:solidFill>
                  <a:srgbClr val="FFFFFF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CSV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615184" y="4173812"/>
            <a:ext cx="621792" cy="430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4" b="1">
                <a:solidFill>
                  <a:srgbClr val="FFFFFF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CSV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357616" y="9566909"/>
            <a:ext cx="3749040" cy="47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1">
                <a:solidFill>
                  <a:srgbClr val="FFFFFF"/>
                </a:solidFill>
                <a:latin typeface="Saira Condensed Medium"/>
                <a:ea typeface="Saira Condensed Medium"/>
                <a:cs typeface="Saira Condensed Medium"/>
                <a:sym typeface="Saira Condensed Medium"/>
              </a:rPr>
              <a:t>CSV | POSTGRESQL | 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5602" y="1984011"/>
            <a:ext cx="16941454" cy="7274289"/>
          </a:xfrm>
          <a:custGeom>
            <a:avLst/>
            <a:gdLst/>
            <a:ahLst/>
            <a:cxnLst/>
            <a:rect l="l" t="t" r="r" b="b"/>
            <a:pathLst>
              <a:path w="16941454" h="7274289">
                <a:moveTo>
                  <a:pt x="0" y="0"/>
                </a:moveTo>
                <a:lnTo>
                  <a:pt x="16941454" y="0"/>
                </a:lnTo>
                <a:lnTo>
                  <a:pt x="16941454" y="7274289"/>
                </a:lnTo>
                <a:lnTo>
                  <a:pt x="0" y="7274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18" r="-656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01192" y="349250"/>
            <a:ext cx="814417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POSTGRESQL DATA IMPORT &amp;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33562" y="349250"/>
            <a:ext cx="603504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DATA WORKFLOW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600" y="1157131"/>
            <a:ext cx="17489293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Importing Customer and Transaction CSV Data into Structured Database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3009" y="17171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4421" y="1602129"/>
            <a:ext cx="3747811" cy="638520"/>
          </a:xfrm>
          <a:custGeom>
            <a:avLst/>
            <a:gdLst/>
            <a:ahLst/>
            <a:cxnLst/>
            <a:rect l="l" t="t" r="r" b="b"/>
            <a:pathLst>
              <a:path w="3747811" h="638520">
                <a:moveTo>
                  <a:pt x="0" y="0"/>
                </a:moveTo>
                <a:lnTo>
                  <a:pt x="3747811" y="0"/>
                </a:lnTo>
                <a:lnTo>
                  <a:pt x="3747811" y="638521"/>
                </a:lnTo>
                <a:lnTo>
                  <a:pt x="0" y="638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406" r="-180661" b="-67528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67368" y="2454359"/>
            <a:ext cx="3574864" cy="596903"/>
          </a:xfrm>
          <a:custGeom>
            <a:avLst/>
            <a:gdLst/>
            <a:ahLst/>
            <a:cxnLst/>
            <a:rect l="l" t="t" r="r" b="b"/>
            <a:pathLst>
              <a:path w="3574864" h="596903">
                <a:moveTo>
                  <a:pt x="0" y="0"/>
                </a:moveTo>
                <a:lnTo>
                  <a:pt x="3574864" y="0"/>
                </a:lnTo>
                <a:lnTo>
                  <a:pt x="3574864" y="596904"/>
                </a:lnTo>
                <a:lnTo>
                  <a:pt x="0" y="596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406" r="-180661" b="-69106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0269" y="2077136"/>
            <a:ext cx="806831" cy="994991"/>
          </a:xfrm>
          <a:custGeom>
            <a:avLst/>
            <a:gdLst/>
            <a:ahLst/>
            <a:cxnLst/>
            <a:rect l="l" t="t" r="r" b="b"/>
            <a:pathLst>
              <a:path w="1113981" h="1294169">
                <a:moveTo>
                  <a:pt x="0" y="0"/>
                </a:moveTo>
                <a:lnTo>
                  <a:pt x="1113981" y="0"/>
                </a:lnTo>
                <a:lnTo>
                  <a:pt x="1113981" y="1294169"/>
                </a:lnTo>
                <a:lnTo>
                  <a:pt x="0" y="1294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60" r="-486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" y="3735453"/>
            <a:ext cx="812629" cy="834268"/>
          </a:xfrm>
          <a:custGeom>
            <a:avLst/>
            <a:gdLst/>
            <a:ahLst/>
            <a:cxnLst/>
            <a:rect l="l" t="t" r="r" b="b"/>
            <a:pathLst>
              <a:path w="1028700" h="1164219">
                <a:moveTo>
                  <a:pt x="0" y="0"/>
                </a:moveTo>
                <a:lnTo>
                  <a:pt x="1028700" y="0"/>
                </a:lnTo>
                <a:lnTo>
                  <a:pt x="1028700" y="1164219"/>
                </a:lnTo>
                <a:lnTo>
                  <a:pt x="0" y="1164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80" t="-1875" r="-158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69255" y="3079763"/>
            <a:ext cx="5370219" cy="61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Revenue Analysis</a:t>
            </a:r>
          </a:p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Transaction analysis</a:t>
            </a:r>
          </a:p>
        </p:txBody>
      </p:sp>
      <p:sp>
        <p:nvSpPr>
          <p:cNvPr id="8" name="Freeform 8"/>
          <p:cNvSpPr/>
          <p:nvPr/>
        </p:nvSpPr>
        <p:spPr>
          <a:xfrm>
            <a:off x="969255" y="3944149"/>
            <a:ext cx="3873840" cy="574984"/>
          </a:xfrm>
          <a:custGeom>
            <a:avLst/>
            <a:gdLst/>
            <a:ahLst/>
            <a:cxnLst/>
            <a:rect l="l" t="t" r="r" b="b"/>
            <a:pathLst>
              <a:path w="3873840" h="574984">
                <a:moveTo>
                  <a:pt x="0" y="0"/>
                </a:moveTo>
                <a:lnTo>
                  <a:pt x="3873840" y="0"/>
                </a:lnTo>
                <a:lnTo>
                  <a:pt x="3873840" y="574984"/>
                </a:lnTo>
                <a:lnTo>
                  <a:pt x="0" y="574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640" r="-221606" b="-91972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6346" y="4903097"/>
            <a:ext cx="1022800" cy="1139514"/>
          </a:xfrm>
          <a:custGeom>
            <a:avLst/>
            <a:gdLst/>
            <a:ahLst/>
            <a:cxnLst/>
            <a:rect l="l" t="t" r="r" b="b"/>
            <a:pathLst>
              <a:path w="936454" h="1046625">
                <a:moveTo>
                  <a:pt x="0" y="0"/>
                </a:moveTo>
                <a:lnTo>
                  <a:pt x="936454" y="0"/>
                </a:lnTo>
                <a:lnTo>
                  <a:pt x="936454" y="1046625"/>
                </a:lnTo>
                <a:lnTo>
                  <a:pt x="0" y="1046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06620" y="5272775"/>
            <a:ext cx="3838982" cy="569810"/>
          </a:xfrm>
          <a:custGeom>
            <a:avLst/>
            <a:gdLst/>
            <a:ahLst/>
            <a:cxnLst/>
            <a:rect l="l" t="t" r="r" b="b"/>
            <a:pathLst>
              <a:path w="3838982" h="569810">
                <a:moveTo>
                  <a:pt x="0" y="0"/>
                </a:moveTo>
                <a:lnTo>
                  <a:pt x="3838983" y="0"/>
                </a:lnTo>
                <a:lnTo>
                  <a:pt x="3838983" y="569810"/>
                </a:lnTo>
                <a:lnTo>
                  <a:pt x="0" y="569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640" r="-221606" b="-919727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" y="6766951"/>
            <a:ext cx="1022800" cy="757184"/>
          </a:xfrm>
          <a:custGeom>
            <a:avLst/>
            <a:gdLst/>
            <a:ahLst/>
            <a:cxnLst/>
            <a:rect l="l" t="t" r="r" b="b"/>
            <a:pathLst>
              <a:path w="1060500" h="834268">
                <a:moveTo>
                  <a:pt x="0" y="0"/>
                </a:moveTo>
                <a:lnTo>
                  <a:pt x="1060500" y="0"/>
                </a:lnTo>
                <a:lnTo>
                  <a:pt x="1060500" y="834268"/>
                </a:lnTo>
                <a:lnTo>
                  <a:pt x="0" y="8342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391" t="-15700" b="-3153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60771" y="6968440"/>
            <a:ext cx="3579943" cy="531362"/>
          </a:xfrm>
          <a:custGeom>
            <a:avLst/>
            <a:gdLst/>
            <a:ahLst/>
            <a:cxnLst/>
            <a:rect l="l" t="t" r="r" b="b"/>
            <a:pathLst>
              <a:path w="3579943" h="531362">
                <a:moveTo>
                  <a:pt x="0" y="0"/>
                </a:moveTo>
                <a:lnTo>
                  <a:pt x="3579943" y="0"/>
                </a:lnTo>
                <a:lnTo>
                  <a:pt x="3579943" y="531361"/>
                </a:lnTo>
                <a:lnTo>
                  <a:pt x="0" y="5313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640" r="-221606" b="-919727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009" y="8360872"/>
            <a:ext cx="832041" cy="921250"/>
          </a:xfrm>
          <a:custGeom>
            <a:avLst/>
            <a:gdLst/>
            <a:ahLst/>
            <a:cxnLst/>
            <a:rect l="l" t="t" r="r" b="b"/>
            <a:pathLst>
              <a:path w="1146988" h="964545">
                <a:moveTo>
                  <a:pt x="0" y="0"/>
                </a:moveTo>
                <a:lnTo>
                  <a:pt x="1146988" y="0"/>
                </a:lnTo>
                <a:lnTo>
                  <a:pt x="1146988" y="964545"/>
                </a:lnTo>
                <a:lnTo>
                  <a:pt x="0" y="9645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290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29443" y="8421832"/>
            <a:ext cx="439281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Expenditure Analysis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31071" y="8317057"/>
            <a:ext cx="3639342" cy="586280"/>
          </a:xfrm>
          <a:custGeom>
            <a:avLst/>
            <a:gdLst/>
            <a:ahLst/>
            <a:cxnLst/>
            <a:rect l="l" t="t" r="r" b="b"/>
            <a:pathLst>
              <a:path w="3639342" h="586280">
                <a:moveTo>
                  <a:pt x="0" y="0"/>
                </a:moveTo>
                <a:lnTo>
                  <a:pt x="3639342" y="0"/>
                </a:lnTo>
                <a:lnTo>
                  <a:pt x="3639342" y="586281"/>
                </a:lnTo>
                <a:lnTo>
                  <a:pt x="0" y="586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9545" r="-249054" b="-91972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074178" y="1516304"/>
            <a:ext cx="13213822" cy="7484897"/>
          </a:xfrm>
          <a:custGeom>
            <a:avLst/>
            <a:gdLst/>
            <a:ahLst/>
            <a:cxnLst/>
            <a:rect l="l" t="t" r="r" b="b"/>
            <a:pathLst>
              <a:path w="13213822" h="7484897">
                <a:moveTo>
                  <a:pt x="0" y="0"/>
                </a:moveTo>
                <a:lnTo>
                  <a:pt x="13213822" y="0"/>
                </a:lnTo>
                <a:lnTo>
                  <a:pt x="13213822" y="7484897"/>
                </a:lnTo>
                <a:lnTo>
                  <a:pt x="0" y="74848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87" r="-887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78162" y="178607"/>
            <a:ext cx="1212262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CREDIT CARD TRANSACTION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80988" y="-2368"/>
            <a:ext cx="427939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DASHBOARD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0943" y="791520"/>
            <a:ext cx="148455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E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Analyzing Revenue, Transaction Performance &amp; Spending Patterns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468" y="1594570"/>
            <a:ext cx="3390239" cy="49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Areas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7468" y="2508597"/>
            <a:ext cx="4989577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Transaction Performance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47904" y="4015117"/>
            <a:ext cx="439281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Card Catogory Performance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0738" y="4852508"/>
            <a:ext cx="5370219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Gold,Silver,Blue,Platinum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0943" y="5416387"/>
            <a:ext cx="4246831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Payment Channel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7468" y="6309310"/>
            <a:ext cx="5370219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Swipe, Online, Chip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67368" y="7010350"/>
            <a:ext cx="439281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Expenditure Analysis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7148" y="7825568"/>
            <a:ext cx="5370219" cy="300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 dirty="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Category wise spending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0642" y="8424180"/>
            <a:ext cx="439281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Catogory Analysis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8227" y="9077401"/>
            <a:ext cx="5370219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Customer Wise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94421" y="1602129"/>
            <a:ext cx="3747811" cy="638520"/>
          </a:xfrm>
          <a:custGeom>
            <a:avLst/>
            <a:gdLst/>
            <a:ahLst/>
            <a:cxnLst/>
            <a:rect l="l" t="t" r="r" b="b"/>
            <a:pathLst>
              <a:path w="3747811" h="638520">
                <a:moveTo>
                  <a:pt x="0" y="0"/>
                </a:moveTo>
                <a:lnTo>
                  <a:pt x="3747811" y="0"/>
                </a:lnTo>
                <a:lnTo>
                  <a:pt x="3747811" y="638521"/>
                </a:lnTo>
                <a:lnTo>
                  <a:pt x="0" y="638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406" r="-180661" b="-67528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67368" y="2454359"/>
            <a:ext cx="3574864" cy="596903"/>
          </a:xfrm>
          <a:custGeom>
            <a:avLst/>
            <a:gdLst/>
            <a:ahLst/>
            <a:cxnLst/>
            <a:rect l="l" t="t" r="r" b="b"/>
            <a:pathLst>
              <a:path w="3574864" h="596903">
                <a:moveTo>
                  <a:pt x="0" y="0"/>
                </a:moveTo>
                <a:lnTo>
                  <a:pt x="3574864" y="0"/>
                </a:lnTo>
                <a:lnTo>
                  <a:pt x="3574864" y="596904"/>
                </a:lnTo>
                <a:lnTo>
                  <a:pt x="0" y="596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406" r="-180661" b="-69106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69255" y="3944149"/>
            <a:ext cx="3873840" cy="574984"/>
          </a:xfrm>
          <a:custGeom>
            <a:avLst/>
            <a:gdLst/>
            <a:ahLst/>
            <a:cxnLst/>
            <a:rect l="l" t="t" r="r" b="b"/>
            <a:pathLst>
              <a:path w="3873840" h="574984">
                <a:moveTo>
                  <a:pt x="0" y="0"/>
                </a:moveTo>
                <a:lnTo>
                  <a:pt x="3873840" y="0"/>
                </a:lnTo>
                <a:lnTo>
                  <a:pt x="3873840" y="574984"/>
                </a:lnTo>
                <a:lnTo>
                  <a:pt x="0" y="574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640" r="-221606" b="-91972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60642" y="5404894"/>
            <a:ext cx="3838982" cy="569810"/>
          </a:xfrm>
          <a:custGeom>
            <a:avLst/>
            <a:gdLst/>
            <a:ahLst/>
            <a:cxnLst/>
            <a:rect l="l" t="t" r="r" b="b"/>
            <a:pathLst>
              <a:path w="3838982" h="569810">
                <a:moveTo>
                  <a:pt x="0" y="0"/>
                </a:moveTo>
                <a:lnTo>
                  <a:pt x="3838982" y="0"/>
                </a:lnTo>
                <a:lnTo>
                  <a:pt x="3838982" y="569811"/>
                </a:lnTo>
                <a:lnTo>
                  <a:pt x="0" y="569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640" r="-221606" b="-91972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67368" y="6844803"/>
            <a:ext cx="3579943" cy="609769"/>
          </a:xfrm>
          <a:custGeom>
            <a:avLst/>
            <a:gdLst/>
            <a:ahLst/>
            <a:cxnLst/>
            <a:rect l="l" t="t" r="r" b="b"/>
            <a:pathLst>
              <a:path w="3579943" h="609769">
                <a:moveTo>
                  <a:pt x="0" y="0"/>
                </a:moveTo>
                <a:lnTo>
                  <a:pt x="3579943" y="0"/>
                </a:lnTo>
                <a:lnTo>
                  <a:pt x="3579943" y="609769"/>
                </a:lnTo>
                <a:lnTo>
                  <a:pt x="0" y="609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815" t="-1562" r="-266553" b="-93409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29443" y="8421832"/>
            <a:ext cx="439281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Expenditure Analysis</a:t>
            </a:r>
          </a:p>
        </p:txBody>
      </p:sp>
      <p:sp>
        <p:nvSpPr>
          <p:cNvPr id="9" name="Freeform 9"/>
          <p:cNvSpPr/>
          <p:nvPr/>
        </p:nvSpPr>
        <p:spPr>
          <a:xfrm>
            <a:off x="5102753" y="1487875"/>
            <a:ext cx="13185247" cy="7311251"/>
          </a:xfrm>
          <a:custGeom>
            <a:avLst/>
            <a:gdLst/>
            <a:ahLst/>
            <a:cxnLst/>
            <a:rect l="l" t="t" r="r" b="b"/>
            <a:pathLst>
              <a:path w="13185247" h="7311251">
                <a:moveTo>
                  <a:pt x="0" y="0"/>
                </a:moveTo>
                <a:lnTo>
                  <a:pt x="13185247" y="0"/>
                </a:lnTo>
                <a:lnTo>
                  <a:pt x="13185247" y="7311250"/>
                </a:lnTo>
                <a:lnTo>
                  <a:pt x="0" y="731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25457" y="2389049"/>
            <a:ext cx="1154899" cy="873578"/>
          </a:xfrm>
          <a:custGeom>
            <a:avLst/>
            <a:gdLst/>
            <a:ahLst/>
            <a:cxnLst/>
            <a:rect l="l" t="t" r="r" b="b"/>
            <a:pathLst>
              <a:path w="1154899" h="873578">
                <a:moveTo>
                  <a:pt x="0" y="0"/>
                </a:moveTo>
                <a:lnTo>
                  <a:pt x="1154900" y="0"/>
                </a:lnTo>
                <a:lnTo>
                  <a:pt x="1154900" y="873578"/>
                </a:lnTo>
                <a:lnTo>
                  <a:pt x="0" y="873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5457" y="3797729"/>
            <a:ext cx="1055125" cy="867824"/>
          </a:xfrm>
          <a:custGeom>
            <a:avLst/>
            <a:gdLst/>
            <a:ahLst/>
            <a:cxnLst/>
            <a:rect l="l" t="t" r="r" b="b"/>
            <a:pathLst>
              <a:path w="1055125" h="867824">
                <a:moveTo>
                  <a:pt x="0" y="0"/>
                </a:moveTo>
                <a:lnTo>
                  <a:pt x="1055125" y="0"/>
                </a:lnTo>
                <a:lnTo>
                  <a:pt x="1055125" y="867825"/>
                </a:lnTo>
                <a:lnTo>
                  <a:pt x="0" y="867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7267" y="5264268"/>
            <a:ext cx="992401" cy="851063"/>
          </a:xfrm>
          <a:custGeom>
            <a:avLst/>
            <a:gdLst/>
            <a:ahLst/>
            <a:cxnLst/>
            <a:rect l="l" t="t" r="r" b="b"/>
            <a:pathLst>
              <a:path w="992401" h="851063">
                <a:moveTo>
                  <a:pt x="0" y="0"/>
                </a:moveTo>
                <a:lnTo>
                  <a:pt x="992401" y="0"/>
                </a:lnTo>
                <a:lnTo>
                  <a:pt x="992401" y="851063"/>
                </a:lnTo>
                <a:lnTo>
                  <a:pt x="0" y="8510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037" b="-3037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8795" y="6611281"/>
            <a:ext cx="1088573" cy="1155220"/>
          </a:xfrm>
          <a:custGeom>
            <a:avLst/>
            <a:gdLst/>
            <a:ahLst/>
            <a:cxnLst/>
            <a:rect l="l" t="t" r="r" b="b"/>
            <a:pathLst>
              <a:path w="1088573" h="1155220">
                <a:moveTo>
                  <a:pt x="0" y="0"/>
                </a:moveTo>
                <a:lnTo>
                  <a:pt x="1088573" y="0"/>
                </a:lnTo>
                <a:lnTo>
                  <a:pt x="1088573" y="1155220"/>
                </a:lnTo>
                <a:lnTo>
                  <a:pt x="0" y="11552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69255" y="3079763"/>
            <a:ext cx="5344991" cy="1234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802" lvl="1" indent="-193401" algn="l">
              <a:lnSpc>
                <a:spcPts val="2508"/>
              </a:lnSpc>
              <a:buFont typeface="Arial"/>
              <a:buChar char="•"/>
            </a:pPr>
            <a:r>
              <a:rPr lang="en-US" sz="179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Gender Analysis</a:t>
            </a:r>
          </a:p>
          <a:p>
            <a:pPr marL="386802" lvl="1" indent="-193401" algn="l">
              <a:lnSpc>
                <a:spcPts val="2508"/>
              </a:lnSpc>
              <a:buFont typeface="Arial"/>
              <a:buChar char="•"/>
            </a:pPr>
            <a:r>
              <a:rPr lang="en-US" sz="179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Age Group Analysis</a:t>
            </a:r>
          </a:p>
          <a:p>
            <a:pPr marL="386802" lvl="1" indent="-193401" algn="l">
              <a:lnSpc>
                <a:spcPts val="2508"/>
              </a:lnSpc>
              <a:buFont typeface="Arial"/>
              <a:buChar char="•"/>
            </a:pPr>
            <a:r>
              <a:rPr lang="en-US" sz="1791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Income Group Analysis</a:t>
            </a:r>
          </a:p>
          <a:p>
            <a:pPr marL="386802" lvl="1" indent="-193401" algn="l">
              <a:lnSpc>
                <a:spcPts val="2508"/>
              </a:lnSpc>
              <a:buFont typeface="Arial"/>
              <a:buChar char="•"/>
            </a:pPr>
            <a:endParaRPr lang="en-US" sz="1791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563828" y="178607"/>
            <a:ext cx="947979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CUSTOMER ANALYTICS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80988" y="-2368"/>
            <a:ext cx="427939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C88A1C"/>
                </a:solidFill>
                <a:latin typeface="Saira Condensed Bold"/>
                <a:ea typeface="Saira Condensed Bold"/>
                <a:cs typeface="Saira Condensed Bold"/>
                <a:sym typeface="Saira Condensed Bold"/>
              </a:rPr>
              <a:t>DASHBOARD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0943" y="791520"/>
            <a:ext cx="148455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E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Analyzing Customer Segments, Behaviour &amp; Revenue Contribution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7468" y="1594570"/>
            <a:ext cx="3390239" cy="49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Areas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8279" y="2568589"/>
            <a:ext cx="4989577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Segmentation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7904" y="4015117"/>
            <a:ext cx="439281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Profile 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78718" y="4636979"/>
            <a:ext cx="3466246" cy="925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Occupation Analysis</a:t>
            </a:r>
          </a:p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Education Analysis</a:t>
            </a:r>
          </a:p>
          <a:p>
            <a:pPr algn="l">
              <a:lnSpc>
                <a:spcPts val="2520"/>
              </a:lnSpc>
            </a:pPr>
            <a:endParaRPr lang="en-US" sz="1800">
              <a:solidFill>
                <a:srgbClr val="FEFEFE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831384" y="5484704"/>
            <a:ext cx="4246831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Geographical area analysis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1993" y="6176149"/>
            <a:ext cx="5370219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State-wise Revenue Analysis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0642" y="6990454"/>
            <a:ext cx="368159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105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Trend Analysis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9668" y="7795076"/>
            <a:ext cx="5370219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8" lvl="1" indent="-194314" algn="l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Weekly Revenue Performance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4834" y="8666307"/>
            <a:ext cx="3579943" cy="609769"/>
          </a:xfrm>
          <a:custGeom>
            <a:avLst/>
            <a:gdLst/>
            <a:ahLst/>
            <a:cxnLst/>
            <a:rect l="l" t="t" r="r" b="b"/>
            <a:pathLst>
              <a:path w="3579943" h="609769">
                <a:moveTo>
                  <a:pt x="0" y="0"/>
                </a:moveTo>
                <a:lnTo>
                  <a:pt x="3579943" y="0"/>
                </a:lnTo>
                <a:lnTo>
                  <a:pt x="3579943" y="609769"/>
                </a:lnTo>
                <a:lnTo>
                  <a:pt x="0" y="609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1815" t="-1562" r="-266553" b="-934093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831384" y="8625655"/>
            <a:ext cx="172610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Purpose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98279" y="9523726"/>
            <a:ext cx="177886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E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 customer behaviour and identify key segments contributing to business revenue.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6754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71697" y="320832"/>
            <a:ext cx="814417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PROJECT INSIGHTS –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93630" y="315756"/>
            <a:ext cx="603504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i="1">
                <a:solidFill>
                  <a:srgbClr val="D19A40"/>
                </a:solidFill>
                <a:latin typeface="Barlow SemiCondensed Bold Italics"/>
                <a:ea typeface="Barlow SemiCondensed Bold Italics"/>
                <a:cs typeface="Barlow SemiCondensed Bold Italics"/>
                <a:sym typeface="Barlow SemiCondensed Bold Italics"/>
              </a:rPr>
              <a:t>WEEK 53 (31ST DEC)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2600" y="1157131"/>
            <a:ext cx="17489293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Weekly Performance Highlights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4576" y="1878014"/>
            <a:ext cx="3351624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WoW change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600" y="2658271"/>
            <a:ext cx="11652200" cy="1317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Revenue increased by 28.8%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Total Transaction amount and count increased by 35.36% and  3.39%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Customer count increased by12.8%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5095875"/>
            <a:ext cx="12420154" cy="4010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Overall Revenue is 57M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 Interest is  8M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Total Transaction Amount is 46M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Male Customers are Contributing more revenue 31M and Female revenue 26M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Blue and Silver credit card generating more revenue 93% Overall transactions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TX,NY &amp; CA contributing  to 68%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Overall Activation Rate is 57.5%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Overall Delinquent rate is 6.06%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34F76-E545-4D02-82F9-4D784DF49A6F}"/>
              </a:ext>
            </a:extLst>
          </p:cNvPr>
          <p:cNvSpPr txBox="1"/>
          <p:nvPr/>
        </p:nvSpPr>
        <p:spPr>
          <a:xfrm>
            <a:off x="316754" y="4258587"/>
            <a:ext cx="449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solidFill>
                  <a:schemeClr val="bg1"/>
                </a:solidFill>
                <a:latin typeface="Canva Sans" panose="020B0604020202020204" charset="0"/>
              </a:rPr>
              <a:t>Year to Date change </a:t>
            </a:r>
          </a:p>
          <a:p>
            <a:endParaRPr lang="en-IN" sz="3000" dirty="0">
              <a:solidFill>
                <a:schemeClr val="bg1"/>
              </a:solidFill>
              <a:latin typeface="Canva Sans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11312"/>
            <a:ext cx="17987371" cy="9859328"/>
          </a:xfrm>
          <a:custGeom>
            <a:avLst/>
            <a:gdLst/>
            <a:ahLst/>
            <a:cxnLst/>
            <a:rect l="l" t="t" r="r" b="b"/>
            <a:pathLst>
              <a:path w="17987371" h="9859328">
                <a:moveTo>
                  <a:pt x="0" y="0"/>
                </a:moveTo>
                <a:lnTo>
                  <a:pt x="17987371" y="0"/>
                </a:lnTo>
                <a:lnTo>
                  <a:pt x="17987371" y="9859327"/>
                </a:lnTo>
                <a:lnTo>
                  <a:pt x="0" y="9859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551</Words>
  <Application>Microsoft Office PowerPoint</Application>
  <PresentationFormat>Custom</PresentationFormat>
  <Paragraphs>181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6" baseType="lpstr">
      <vt:lpstr>Roboto</vt:lpstr>
      <vt:lpstr>Arial</vt:lpstr>
      <vt:lpstr>Roboto Bold</vt:lpstr>
      <vt:lpstr>Barlow SemiCondensed Semi-Bold</vt:lpstr>
      <vt:lpstr>Barlow SemiCondensed Bold</vt:lpstr>
      <vt:lpstr>Roboto Condensed</vt:lpstr>
      <vt:lpstr>Canva Sans</vt:lpstr>
      <vt:lpstr>Saira Condensed Bold</vt:lpstr>
      <vt:lpstr>Barlow SemiCondensed Bold Italics</vt:lpstr>
      <vt:lpstr>Barlow SemiCondensed Medium</vt:lpstr>
      <vt:lpstr>Roboto Condensed Bold Italics</vt:lpstr>
      <vt:lpstr>Saira Condensed Medium</vt:lpstr>
      <vt:lpstr>Calibri</vt:lpstr>
      <vt:lpstr>Barlow SemiCondensed</vt:lpstr>
      <vt:lpstr>Canva Sans Bold</vt:lpstr>
      <vt:lpstr>Roboto Condensed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Analytics</dc:title>
  <dc:creator>HP</dc:creator>
  <cp:lastModifiedBy>HP</cp:lastModifiedBy>
  <cp:revision>3</cp:revision>
  <dcterms:created xsi:type="dcterms:W3CDTF">2006-08-16T00:00:00Z</dcterms:created>
  <dcterms:modified xsi:type="dcterms:W3CDTF">2026-09-22T10:40:43Z</dcterms:modified>
  <dc:identifier>DAHV4rX4ZIM</dc:identifier>
</cp:coreProperties>
</file>